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讲解目标：不展开具体科学计算功能，重点解释这个项目怎样逐步形成 Agent 平台。证据来源：仓库 Git 历史、README.md、backend/app/workflow.py、agents.py、llm.py、registry.py、science.py、storage.py。开场可先问听众：如果模型算错、服务重启、浏览器刷新，系统还能否解释并恢复？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Git 证据：eb8f0c8 建立首版；54f23e3 的 README 首次明确模型驱动 decide→tool→verify→observe；275aefc 提到长流程可用；e802015 新增 goals.py；386f219 新增 agents.py 并将系统描述改为多 Agent；2eaaa39 新增 auth.py、会话历史与外部模型选择；539583d 修复会话与运行问题。这里强调提交信息中的问题清单就是平台能力的需求来源。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来源：README.md 的架构章节和 pyproject.toml 依赖。讲解时从上到下走一遍：用户看到事件流；API 负责长任务；LangGraph 负责控制流；工具层把模型输出变成受控调用；模型服务和持久化可替换。强调分层后，每一层都可以独立测试和替换。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来源：workflow.py 的 LangGraph 节点与边：understand_problem、agent_decide、human_review、execute_tool、verify_result、render_result、finalize。route_decision、route_review、route_execute 决定分支。run_task 设置 recursion_limit 和 timeout。此页建议逐步动画式讲述，但所有元素保持可编辑。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来源：agents.py 中四个 AgentIdentity 和包装类；workflow.py 的 handoff() 产生 agent_handoff 事件并更新 active_agent、agent_handoffs。重要观点：四个角色可以共用同一个模型服务。多 Agent 的核心价值来自提示、输入证据和决策权限的隔离，而不是简单地多调用几次模型。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来源：models.py 的 ScientificAgentState；workflow.py 的 model_query() 只使用 conversation_summary、最近两轮 conversation_history 和当前 user_query，并截取最新 3500 字符；storage.py 保存任务快照和事件。讲解重点：不要把“模型能看到的文本”与“平台保存的真实状态”混为一谈。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来源：registry.py 对调用名称和参数做服务器端校验；science.py 定义 TOOLS、安全表达式和资源限制；llm.py 的 TOOL_SPECS 绑定给模型，并在 first_tool_call 中把批量工具建议拆成单次执行。可以用这页解释工具调用协议：assistant.tool_calls 之后必须有对应 ToolMessage。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来源：agents.py 的 VerificationCriticAgent.verify() 将 evidence.passed 设为 program_passed and agent_approved；workflow.py 的 verify_call() 为不同工具实现残差、符号等价、有限性等检查。强调 Critic 只验收当前调用，完整目标是否完成由 Solver 的目标账本决定。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来源：workflow.py 的 human_review、interrupt、resume_task；main.py 的 review API；README.md 明确说明 MemorySaver 在后端重启后无法恢复未完成中断，但 SQLite 中已完成历史仍可读取。讲解时区分运行时恢复、界面恢复和审计回放。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来源：models.py 的 WorkflowEvent；storage.py 的递增 sequence；main.py 的 SSE events?after=N；README.md 对公开摘要和不展示隐藏推理的说明。事件既服务前端，也服务排错和教学，因此要把事件协议当成产品 API 管理。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这页是基于仓库迭代抽象出的教学路线。建议同学先做 M1-M2，再补可信执行和恢复能力，不要一开始堆多个角色。每增加一个节点或分支，都同步设计状态、事件和测试，以免前端只能看到“模型正在思考”。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6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0" Type="http://schemas.openxmlformats.org/officeDocument/2006/relationships/notesSlide" Target="../notesSlides/notesSlide4.xml"/><Relationship Id="rId2" Type="http://schemas.openxmlformats.org/officeDocument/2006/relationships/tags" Target="../tags/tag8.xml"/><Relationship Id="rId19" Type="http://schemas.openxmlformats.org/officeDocument/2006/relationships/slideLayout" Target="../slideLayouts/slideLayout6.xml"/><Relationship Id="rId18" Type="http://schemas.openxmlformats.org/officeDocument/2006/relationships/tags" Target="../tags/tag24.xml"/><Relationship Id="rId17" Type="http://schemas.openxmlformats.org/officeDocument/2006/relationships/tags" Target="../tags/tag23.xml"/><Relationship Id="rId16" Type="http://schemas.openxmlformats.org/officeDocument/2006/relationships/tags" Target="../tags/tag22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4" Type="http://schemas.openxmlformats.org/officeDocument/2006/relationships/notesSlide" Target="../notesSlides/notesSlide12.xml"/><Relationship Id="rId13" Type="http://schemas.openxmlformats.org/officeDocument/2006/relationships/slideLayout" Target="../slideLayouts/slideLayout6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直接连接符 18"/>
          <p:cNvSpPr>
            <a:spLocks noGrp="1"/>
          </p:cNvSpPr>
          <p:nvPr/>
        </p:nvSpPr>
        <p:spPr>
          <a:xfrm>
            <a:off x="666750" y="857250"/>
            <a:ext cx="1809750" cy="0"/>
          </a:xfrm>
          <a:prstGeom prst="line">
            <a:avLst/>
          </a:prstGeom>
          <a:noFill/>
          <a:ln w="47625">
            <a:solidFill>
              <a:srgbClr val="4FE0D0"/>
            </a:solidFill>
            <a:prstDash val="solid"/>
          </a:ln>
        </p:spPr>
      </p:sp>
      <p:sp>
        <p:nvSpPr>
          <p:cNvPr id="2" name="直接连接符 1"/>
          <p:cNvSpPr>
            <a:spLocks noGrp="1"/>
          </p:cNvSpPr>
          <p:nvPr/>
        </p:nvSpPr>
        <p:spPr>
          <a:xfrm>
            <a:off x="666750" y="971550"/>
            <a:ext cx="952500" cy="0"/>
          </a:xfrm>
          <a:prstGeom prst="line">
            <a:avLst/>
          </a:prstGeom>
          <a:noFill/>
          <a:ln w="47625">
            <a:solidFill>
              <a:srgbClr val="59A7F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1352550"/>
            <a:ext cx="457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3600" b="1">
                <a:solidFill>
                  <a:srgbClr val="4FE0D0"/>
                </a:solidFill>
              </a:defRPr>
            </a:defPPr>
          </a:lstStyle>
          <a:p>
            <a:pPr algn="l">
              <a:defRPr sz="3600" b="1">
                <a:solidFill>
                  <a:srgbClr val="4FE0D0"/>
                </a:solidFill>
              </a:defRPr>
            </a:pPr>
            <a:r>
              <a:rPr sz="3600" b="1">
                <a:solidFill>
                  <a:srgbClr val="4FE0D0"/>
                </a:solidFill>
              </a:rPr>
              <a:t>SciDemo</a:t>
            </a:r>
            <a:endParaRPr sz="3600" b="1">
              <a:solidFill>
                <a:srgbClr val="4FE0D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2076450"/>
            <a:ext cx="9715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850" b="1">
                <a:solidFill>
                  <a:srgbClr val="F3F7FC"/>
                </a:solidFill>
              </a:defRPr>
            </a:defPPr>
          </a:lstStyle>
          <a:p>
            <a:pPr algn="l">
              <a:defRPr sz="2850" b="1">
                <a:solidFill>
                  <a:srgbClr val="F3F7FC"/>
                </a:solidFill>
              </a:defRPr>
            </a:pPr>
            <a:r>
              <a:rPr sz="2850" b="1">
                <a:solidFill>
                  <a:srgbClr val="F3F7FC"/>
                </a:solidFill>
              </a:rPr>
              <a:t>如何搭建一个可验证、可恢复、可观察的 Agent 平台</a:t>
            </a:r>
            <a:endParaRPr sz="2850" b="1">
              <a:solidFill>
                <a:srgbClr val="F3F7FC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95325" y="3486150"/>
            <a:ext cx="781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0">
                <a:solidFill>
                  <a:srgbClr val="9EB0C7"/>
                </a:solidFill>
              </a:defRPr>
            </a:defPPr>
          </a:lstStyle>
          <a:p>
            <a:pPr algn="l">
              <a:defRPr sz="1575" b="0">
                <a:solidFill>
                  <a:srgbClr val="9EB0C7"/>
                </a:solidFill>
              </a:defRPr>
            </a:pPr>
            <a:r>
              <a:rPr sz="1575" b="0">
                <a:solidFill>
                  <a:srgbClr val="9EB0C7"/>
                </a:solidFill>
              </a:rPr>
              <a:t>从项目提交的演进中，提炼 Agent 系统的工程方法</a:t>
            </a:r>
            <a:endParaRPr sz="1575" b="0">
              <a:solidFill>
                <a:srgbClr val="9EB0C7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239000" y="4591050"/>
            <a:ext cx="1238250" cy="685800"/>
          </a:xfrm>
          <a:prstGeom prst="roundRect">
            <a:avLst>
              <a:gd name="adj" fmla="val 16667"/>
            </a:avLst>
          </a:prstGeom>
          <a:solidFill>
            <a:srgbClr val="14243A"/>
          </a:solidFill>
          <a:ln w="19050">
            <a:solidFill>
              <a:srgbClr val="59A7F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239000" y="47815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F3F7FC"/>
                </a:solidFill>
              </a:defRPr>
            </a:defPPr>
          </a:lstStyle>
          <a:p>
            <a:pPr algn="ctr">
              <a:defRPr sz="1275" b="1">
                <a:solidFill>
                  <a:srgbClr val="F3F7FC"/>
                </a:solidFill>
              </a:defRPr>
            </a:pPr>
            <a:r>
              <a:rPr sz="1275" b="1">
                <a:solidFill>
                  <a:srgbClr val="F3F7FC"/>
                </a:solidFill>
              </a:rPr>
              <a:t>工具执行</a:t>
            </a:r>
            <a:endParaRPr sz="1275" b="1">
              <a:solidFill>
                <a:srgbClr val="F3F7FC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572500" y="3886200"/>
            <a:ext cx="1238250" cy="685800"/>
          </a:xfrm>
          <a:prstGeom prst="roundRect">
            <a:avLst>
              <a:gd name="adj" fmla="val 16667"/>
            </a:avLst>
          </a:prstGeom>
          <a:solidFill>
            <a:srgbClr val="14243A"/>
          </a:solidFill>
          <a:ln w="19050">
            <a:solidFill>
              <a:srgbClr val="4FE0D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572500" y="407670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F3F7FC"/>
                </a:solidFill>
              </a:defRPr>
            </a:defPPr>
          </a:lstStyle>
          <a:p>
            <a:pPr algn="ctr">
              <a:defRPr sz="1275" b="1">
                <a:solidFill>
                  <a:srgbClr val="F3F7FC"/>
                </a:solidFill>
              </a:defRPr>
            </a:pPr>
            <a:r>
              <a:rPr sz="1275" b="1">
                <a:solidFill>
                  <a:srgbClr val="F3F7FC"/>
                </a:solidFill>
              </a:rPr>
              <a:t>Agent 决策</a:t>
            </a:r>
            <a:endParaRPr sz="1275" b="1">
              <a:solidFill>
                <a:srgbClr val="F3F7FC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06000" y="4591050"/>
            <a:ext cx="1238250" cy="685800"/>
          </a:xfrm>
          <a:prstGeom prst="roundRect">
            <a:avLst>
              <a:gd name="adj" fmla="val 16667"/>
            </a:avLst>
          </a:prstGeom>
          <a:solidFill>
            <a:srgbClr val="14243A"/>
          </a:solidFill>
          <a:ln w="19050">
            <a:solidFill>
              <a:srgbClr val="59A7F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906000" y="4781550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F3F7FC"/>
                </a:solidFill>
              </a:defRPr>
            </a:defPPr>
          </a:lstStyle>
          <a:p>
            <a:pPr algn="ctr">
              <a:defRPr sz="1275" b="1">
                <a:solidFill>
                  <a:srgbClr val="F3F7FC"/>
                </a:solidFill>
              </a:defRPr>
            </a:pPr>
            <a:r>
              <a:rPr sz="1275" b="1">
                <a:solidFill>
                  <a:srgbClr val="F3F7FC"/>
                </a:solidFill>
              </a:rPr>
              <a:t>独立验证</a:t>
            </a:r>
            <a:endParaRPr sz="1275" b="1">
              <a:solidFill>
                <a:srgbClr val="F3F7FC"/>
              </a:solidFill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 flipV="1">
            <a:off x="7762875" y="4253865"/>
            <a:ext cx="713740" cy="330835"/>
          </a:xfrm>
          <a:prstGeom prst="line">
            <a:avLst/>
          </a:prstGeom>
          <a:noFill/>
          <a:ln w="19050">
            <a:solidFill>
              <a:srgbClr val="59A7FF"/>
            </a:solidFill>
            <a:prstDash val="solid"/>
          </a:ln>
        </p:spPr>
      </p:sp>
      <p:sp>
        <p:nvSpPr>
          <p:cNvPr id="13" name="等腰三角形 12"/>
          <p:cNvSpPr>
            <a:spLocks noGrp="1"/>
          </p:cNvSpPr>
          <p:nvPr/>
        </p:nvSpPr>
        <p:spPr>
          <a:xfrm rot="4530916">
            <a:off x="8446135" y="4175760"/>
            <a:ext cx="114300" cy="114300"/>
          </a:xfrm>
          <a:prstGeom prst="triangle">
            <a:avLst/>
          </a:prstGeom>
          <a:solidFill>
            <a:srgbClr val="59A7FF"/>
          </a:solidFill>
          <a:ln w="0">
            <a:solidFill>
              <a:srgbClr val="59A7FF"/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9806305" y="4229735"/>
            <a:ext cx="718820" cy="294640"/>
          </a:xfrm>
          <a:prstGeom prst="line">
            <a:avLst/>
          </a:prstGeom>
          <a:noFill/>
          <a:ln w="19050">
            <a:solidFill>
              <a:srgbClr val="4FE0D0"/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 rot="6540359">
            <a:off x="10458450" y="4467225"/>
            <a:ext cx="114300" cy="114300"/>
          </a:xfrm>
          <a:prstGeom prst="triangle">
            <a:avLst/>
          </a:prstGeom>
          <a:solidFill>
            <a:srgbClr val="4FE0D0"/>
          </a:solidFill>
          <a:ln w="0">
            <a:solidFill>
              <a:srgbClr val="4FE0D0"/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628380" y="5008245"/>
            <a:ext cx="1277620" cy="5715"/>
          </a:xfrm>
          <a:prstGeom prst="line">
            <a:avLst/>
          </a:prstGeom>
          <a:noFill/>
          <a:ln w="19050">
            <a:solidFill>
              <a:srgbClr val="F6C85F"/>
            </a:solidFill>
            <a:prstDash val="solid"/>
          </a:ln>
        </p:spPr>
      </p:sp>
      <p:sp>
        <p:nvSpPr>
          <p:cNvPr id="17" name="等腰三角形 16"/>
          <p:cNvSpPr>
            <a:spLocks noGrp="1"/>
          </p:cNvSpPr>
          <p:nvPr>
            <p:custDataLst>
              <p:tags r:id="rId6"/>
            </p:custDataLst>
          </p:nvPr>
        </p:nvSpPr>
        <p:spPr>
          <a:xfrm rot="16200000">
            <a:off x="8505825" y="4940935"/>
            <a:ext cx="114300" cy="114300"/>
          </a:xfrm>
          <a:prstGeom prst="triangle">
            <a:avLst/>
          </a:prstGeom>
          <a:solidFill>
            <a:srgbClr val="F6C85F"/>
          </a:solidFill>
          <a:ln w="0">
            <a:solidFill>
              <a:srgbClr val="F6C85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02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迭代主线：每一版都在补一个平台能力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直接连接符 3"/>
          <p:cNvSpPr>
            <a:spLocks noGrp="1"/>
          </p:cNvSpPr>
          <p:nvPr/>
        </p:nvSpPr>
        <p:spPr>
          <a:xfrm>
            <a:off x="914400" y="3105150"/>
            <a:ext cx="10363200" cy="0"/>
          </a:xfrm>
          <a:prstGeom prst="line">
            <a:avLst/>
          </a:prstGeom>
          <a:noFill/>
          <a:ln w="38100">
            <a:solidFill>
              <a:srgbClr val="29415E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333500" y="2533650"/>
            <a:ext cx="0" cy="571500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1219200" y="2990850"/>
            <a:ext cx="228600" cy="228600"/>
          </a:xfrm>
          <a:prstGeom prst="ellipse">
            <a:avLst/>
          </a:prstGeom>
          <a:solidFill>
            <a:srgbClr val="59A7FF"/>
          </a:solidFill>
          <a:ln w="38100">
            <a:solidFill>
              <a:srgbClr val="08111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857250" y="12001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050" b="1">
                <a:solidFill>
                  <a:srgbClr val="59A7FF"/>
                </a:solidFill>
              </a:defRPr>
            </a:defPPr>
          </a:lstStyle>
          <a:p>
            <a:pPr algn="ctr">
              <a:defRPr sz="1050" b="1">
                <a:solidFill>
                  <a:srgbClr val="59A7FF"/>
                </a:solidFill>
              </a:defRPr>
            </a:pPr>
            <a:r>
              <a:rPr sz="1050" b="1">
                <a:solidFill>
                  <a:srgbClr val="59A7FF"/>
                </a:solidFill>
              </a:rPr>
              <a:t>09/30</a:t>
            </a:r>
            <a:endParaRPr sz="1050" b="1">
              <a:solidFill>
                <a:srgbClr val="59A7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66750" y="14859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F3F7FC"/>
                </a:solidFill>
              </a:defRPr>
            </a:defPPr>
          </a:lstStyle>
          <a:p>
            <a:pPr algn="ctr">
              <a:defRPr sz="1350" b="1">
                <a:solidFill>
                  <a:srgbClr val="F3F7FC"/>
                </a:solidFill>
              </a:defRPr>
            </a:pPr>
            <a:r>
              <a:rPr sz="1350" b="1">
                <a:solidFill>
                  <a:srgbClr val="F3F7FC"/>
                </a:solidFill>
              </a:rPr>
              <a:t>第一版</a:t>
            </a:r>
            <a:endParaRPr sz="1350" b="1">
              <a:solidFill>
                <a:srgbClr val="F3F7FC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6750" y="182880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0">
                <a:solidFill>
                  <a:srgbClr val="9EB0C7"/>
                </a:solidFill>
              </a:defRPr>
            </a:defPPr>
          </a:lstStyle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sz="1200" b="0">
                <a:solidFill>
                  <a:srgbClr val="9EB0C7"/>
                </a:solidFill>
              </a:rPr>
              <a:t>模型理解</a:t>
            </a:r>
            <a:endParaRPr sz="1200" b="0">
              <a:solidFill>
                <a:srgbClr val="9EB0C7"/>
              </a:solidFill>
            </a:endParaRPr>
          </a:p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sz="1200" b="0">
                <a:solidFill>
                  <a:srgbClr val="9EB0C7"/>
                </a:solidFill>
              </a:rPr>
              <a:t>工具调用</a:t>
            </a:r>
            <a:endParaRPr sz="1200" b="0">
              <a:solidFill>
                <a:srgbClr val="9EB0C7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3505200" y="3105150"/>
            <a:ext cx="0" cy="704850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3390900" y="2990850"/>
            <a:ext cx="228600" cy="228600"/>
          </a:xfrm>
          <a:prstGeom prst="ellipse">
            <a:avLst/>
          </a:prstGeom>
          <a:solidFill>
            <a:srgbClr val="4FE0D0"/>
          </a:solidFill>
          <a:ln w="38100">
            <a:solidFill>
              <a:srgbClr val="08111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3028950" y="38100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050" b="1">
                <a:solidFill>
                  <a:srgbClr val="4FE0D0"/>
                </a:solidFill>
              </a:defRPr>
            </a:defPPr>
          </a:lstStyle>
          <a:p>
            <a:pPr algn="ctr">
              <a:defRPr sz="1050" b="1">
                <a:solidFill>
                  <a:srgbClr val="4FE0D0"/>
                </a:solidFill>
              </a:defRPr>
            </a:pPr>
            <a:r>
              <a:rPr sz="1050" b="1">
                <a:solidFill>
                  <a:srgbClr val="4FE0D0"/>
                </a:solidFill>
              </a:rPr>
              <a:t>09/30</a:t>
            </a:r>
            <a:endParaRPr sz="1050" b="1">
              <a:solidFill>
                <a:srgbClr val="4FE0D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838450" y="40957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F3F7FC"/>
                </a:solidFill>
              </a:defRPr>
            </a:defPPr>
          </a:lstStyle>
          <a:p>
            <a:pPr algn="ctr">
              <a:defRPr sz="1350" b="1">
                <a:solidFill>
                  <a:srgbClr val="F3F7FC"/>
                </a:solidFill>
              </a:defRPr>
            </a:pPr>
            <a:r>
              <a:rPr sz="1350" b="1">
                <a:solidFill>
                  <a:srgbClr val="F3F7FC"/>
                </a:solidFill>
              </a:rPr>
              <a:t>第二至三版</a:t>
            </a:r>
            <a:endParaRPr sz="1350" b="1">
              <a:solidFill>
                <a:srgbClr val="F3F7FC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38450" y="443865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0">
                <a:solidFill>
                  <a:srgbClr val="9EB0C7"/>
                </a:solidFill>
              </a:defRPr>
            </a:defPPr>
          </a:lstStyle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lang="zh-CN" sz="1200" b="0">
                <a:solidFill>
                  <a:srgbClr val="9EB0C7"/>
                </a:solidFill>
              </a:rPr>
              <a:t>单</a:t>
            </a:r>
            <a:r>
              <a:rPr lang="en-US" altLang="zh-CN" sz="1200" b="0">
                <a:solidFill>
                  <a:srgbClr val="9EB0C7"/>
                </a:solidFill>
              </a:rPr>
              <a:t>agent</a:t>
            </a:r>
            <a:r>
              <a:rPr sz="1200" b="0">
                <a:solidFill>
                  <a:srgbClr val="9EB0C7"/>
                </a:solidFill>
              </a:rPr>
              <a:t>自主循环</a:t>
            </a:r>
            <a:endParaRPr sz="1200" b="0">
              <a:solidFill>
                <a:srgbClr val="9EB0C7"/>
              </a:solidFill>
            </a:endParaRPr>
          </a:p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sz="1200" b="0">
                <a:solidFill>
                  <a:srgbClr val="9EB0C7"/>
                </a:solidFill>
              </a:rPr>
              <a:t>长流程</a:t>
            </a:r>
            <a:endParaRPr sz="1200" b="0">
              <a:solidFill>
                <a:srgbClr val="9EB0C7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5676900" y="2533650"/>
            <a:ext cx="0" cy="571500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5562600" y="2990850"/>
            <a:ext cx="228600" cy="228600"/>
          </a:xfrm>
          <a:prstGeom prst="ellipse">
            <a:avLst/>
          </a:prstGeom>
          <a:solidFill>
            <a:srgbClr val="F6C85F"/>
          </a:solidFill>
          <a:ln w="38100">
            <a:solidFill>
              <a:srgbClr val="08111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200650" y="12001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050" b="1">
                <a:solidFill>
                  <a:srgbClr val="F6C85F"/>
                </a:solidFill>
              </a:defRPr>
            </a:defPPr>
          </a:lstStyle>
          <a:p>
            <a:pPr algn="ctr">
              <a:defRPr sz="1050" b="1">
                <a:solidFill>
                  <a:srgbClr val="F6C85F"/>
                </a:solidFill>
              </a:defRPr>
            </a:pPr>
            <a:r>
              <a:rPr sz="1050" b="1">
                <a:solidFill>
                  <a:srgbClr val="F6C85F"/>
                </a:solidFill>
              </a:rPr>
              <a:t>10/01</a:t>
            </a:r>
            <a:endParaRPr sz="1050" b="1">
              <a:solidFill>
                <a:srgbClr val="F6C85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010150" y="14859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F3F7FC"/>
                </a:solidFill>
              </a:defRPr>
            </a:defPPr>
          </a:lstStyle>
          <a:p>
            <a:pPr algn="ctr">
              <a:defRPr sz="1350" b="1">
                <a:solidFill>
                  <a:srgbClr val="F3F7FC"/>
                </a:solidFill>
              </a:defRPr>
            </a:pPr>
            <a:r>
              <a:rPr sz="1350" b="1">
                <a:solidFill>
                  <a:srgbClr val="F3F7FC"/>
                </a:solidFill>
              </a:rPr>
              <a:t>第四至五版</a:t>
            </a:r>
            <a:endParaRPr sz="1350" b="1">
              <a:solidFill>
                <a:srgbClr val="F3F7F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010150" y="182880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0">
                <a:solidFill>
                  <a:srgbClr val="9EB0C7"/>
                </a:solidFill>
              </a:defRPr>
            </a:defPPr>
          </a:lstStyle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lang="zh-CN" sz="1200" b="0">
                <a:solidFill>
                  <a:srgbClr val="9EB0C7"/>
                </a:solidFill>
              </a:rPr>
              <a:t>尝试完成</a:t>
            </a:r>
            <a:endParaRPr lang="zh-CN" sz="1200" b="0">
              <a:solidFill>
                <a:srgbClr val="9EB0C7"/>
              </a:solidFill>
            </a:endParaRPr>
          </a:p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sz="1200" b="0">
                <a:solidFill>
                  <a:srgbClr val="9EB0C7"/>
                </a:solidFill>
              </a:rPr>
              <a:t>复杂任务</a:t>
            </a:r>
            <a:endParaRPr sz="1200" b="0">
              <a:solidFill>
                <a:srgbClr val="9EB0C7"/>
              </a:solidFill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7848600" y="3105150"/>
            <a:ext cx="0" cy="704850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7734300" y="2990850"/>
            <a:ext cx="228600" cy="228600"/>
          </a:xfrm>
          <a:prstGeom prst="ellipse">
            <a:avLst/>
          </a:prstGeom>
          <a:solidFill>
            <a:srgbClr val="FF7A72"/>
          </a:solidFill>
          <a:ln w="38100">
            <a:solidFill>
              <a:srgbClr val="08111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372350" y="381000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050" b="1">
                <a:solidFill>
                  <a:srgbClr val="FF7A72"/>
                </a:solidFill>
              </a:defRPr>
            </a:defPPr>
          </a:lstStyle>
          <a:p>
            <a:pPr algn="ctr">
              <a:defRPr sz="1050" b="1">
                <a:solidFill>
                  <a:srgbClr val="FF7A72"/>
                </a:solidFill>
              </a:defRPr>
            </a:pPr>
            <a:r>
              <a:rPr sz="1050" b="1">
                <a:solidFill>
                  <a:srgbClr val="FF7A72"/>
                </a:solidFill>
              </a:rPr>
              <a:t>10/01</a:t>
            </a:r>
            <a:endParaRPr sz="1050" b="1">
              <a:solidFill>
                <a:srgbClr val="FF7A7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181850" y="40957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F3F7FC"/>
                </a:solidFill>
              </a:defRPr>
            </a:defPPr>
          </a:lstStyle>
          <a:p>
            <a:pPr algn="ctr">
              <a:defRPr sz="1350" b="1">
                <a:solidFill>
                  <a:srgbClr val="F3F7FC"/>
                </a:solidFill>
              </a:defRPr>
            </a:pPr>
            <a:r>
              <a:rPr sz="1350" b="1">
                <a:solidFill>
                  <a:srgbClr val="F3F7FC"/>
                </a:solidFill>
              </a:rPr>
              <a:t>多 Agent 版</a:t>
            </a:r>
            <a:endParaRPr sz="1350" b="1">
              <a:solidFill>
                <a:srgbClr val="F3F7FC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181850" y="443865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0">
                <a:solidFill>
                  <a:srgbClr val="9EB0C7"/>
                </a:solidFill>
              </a:defRPr>
            </a:defPPr>
          </a:lstStyle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sz="1200" b="0">
                <a:solidFill>
                  <a:srgbClr val="9EB0C7"/>
                </a:solidFill>
              </a:rPr>
              <a:t>职责隔离</a:t>
            </a:r>
            <a:endParaRPr sz="1200" b="0">
              <a:solidFill>
                <a:srgbClr val="9EB0C7"/>
              </a:solidFill>
            </a:endParaRPr>
          </a:p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sz="1200" b="0">
                <a:solidFill>
                  <a:srgbClr val="9EB0C7"/>
                </a:solidFill>
              </a:rPr>
              <a:t>独立审查</a:t>
            </a:r>
            <a:endParaRPr sz="1200" b="0">
              <a:solidFill>
                <a:srgbClr val="9EB0C7"/>
              </a:solidFill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0020300" y="2533650"/>
            <a:ext cx="0" cy="571500"/>
          </a:xfrm>
          <a:prstGeom prst="line">
            <a:avLst/>
          </a:prstGeom>
          <a:noFill/>
          <a:ln w="19050">
            <a:solidFill>
              <a:srgbClr val="29415E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9906000" y="2990850"/>
            <a:ext cx="228600" cy="228600"/>
          </a:xfrm>
          <a:prstGeom prst="ellipse">
            <a:avLst/>
          </a:prstGeom>
          <a:solidFill>
            <a:srgbClr val="67D391"/>
          </a:solidFill>
          <a:ln w="38100">
            <a:solidFill>
              <a:srgbClr val="08111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544050" y="1200150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050" b="1">
                <a:solidFill>
                  <a:srgbClr val="67D391"/>
                </a:solidFill>
              </a:defRPr>
            </a:defPPr>
          </a:lstStyle>
          <a:p>
            <a:pPr algn="ctr">
              <a:defRPr sz="1050" b="1">
                <a:solidFill>
                  <a:srgbClr val="67D391"/>
                </a:solidFill>
              </a:defRPr>
            </a:pPr>
            <a:r>
              <a:rPr sz="1050" b="1">
                <a:solidFill>
                  <a:srgbClr val="67D391"/>
                </a:solidFill>
              </a:rPr>
              <a:t>10/02</a:t>
            </a:r>
            <a:endParaRPr sz="1050" b="1">
              <a:solidFill>
                <a:srgbClr val="67D39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353550" y="148590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F3F7FC"/>
                </a:solidFill>
              </a:defRPr>
            </a:defPPr>
          </a:lstStyle>
          <a:p>
            <a:pPr algn="ctr">
              <a:defRPr sz="1350" b="1">
                <a:solidFill>
                  <a:srgbClr val="F3F7FC"/>
                </a:solidFill>
              </a:defRPr>
            </a:pPr>
            <a:r>
              <a:rPr sz="1350" b="1">
                <a:solidFill>
                  <a:srgbClr val="F3F7FC"/>
                </a:solidFill>
              </a:rPr>
              <a:t>平台化版</a:t>
            </a:r>
            <a:endParaRPr sz="1350" b="1">
              <a:solidFill>
                <a:srgbClr val="F3F7FC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353550" y="182880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0">
                <a:solidFill>
                  <a:srgbClr val="9EB0C7"/>
                </a:solidFill>
              </a:defRPr>
            </a:defPPr>
          </a:lstStyle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sz="1200" b="0">
                <a:solidFill>
                  <a:srgbClr val="9EB0C7"/>
                </a:solidFill>
              </a:rPr>
              <a:t>会话身份</a:t>
            </a:r>
            <a:endParaRPr sz="1200" b="0">
              <a:solidFill>
                <a:srgbClr val="9EB0C7"/>
              </a:solidFill>
            </a:endParaRPr>
          </a:p>
          <a:p>
            <a:pPr algn="ctr">
              <a:defRPr sz="1200" b="0">
                <a:solidFill>
                  <a:srgbClr val="9EB0C7"/>
                </a:solidFill>
              </a:defRPr>
            </a:pPr>
            <a:r>
              <a:rPr sz="1200" b="0">
                <a:solidFill>
                  <a:srgbClr val="9EB0C7"/>
                </a:solidFill>
              </a:rPr>
              <a:t>模型后端</a:t>
            </a:r>
            <a:endParaRPr sz="1200" b="0">
              <a:solidFill>
                <a:srgbClr val="9EB0C7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38200" y="5791200"/>
            <a:ext cx="1143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4FE0D0"/>
                </a:solidFill>
              </a:defRPr>
            </a:defPPr>
          </a:lstStyle>
          <a:p>
            <a:pPr algn="l">
              <a:defRPr sz="1050" b="1">
                <a:solidFill>
                  <a:srgbClr val="4FE0D0"/>
                </a:solidFill>
              </a:defRPr>
            </a:pPr>
            <a:r>
              <a:rPr sz="1050" b="1">
                <a:solidFill>
                  <a:srgbClr val="4FE0D0"/>
                </a:solidFill>
              </a:rPr>
              <a:t>演进规律</a:t>
            </a:r>
            <a:endParaRPr sz="1050" b="1">
              <a:solidFill>
                <a:srgbClr val="4FE0D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2000250" y="5715000"/>
            <a:ext cx="866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F3F7FC"/>
                </a:solidFill>
              </a:defRPr>
            </a:defPPr>
          </a:lstStyle>
          <a:p>
            <a:pPr algn="l">
              <a:defRPr sz="1650" b="1">
                <a:solidFill>
                  <a:srgbClr val="F3F7FC"/>
                </a:solidFill>
              </a:defRPr>
            </a:pPr>
            <a:r>
              <a:rPr sz="1650" b="1">
                <a:solidFill>
                  <a:srgbClr val="F3F7FC"/>
                </a:solidFill>
              </a:rPr>
              <a:t>先把调用跑通，再把自主性、安全性、可恢复性和产品边界逐层补齐</a:t>
            </a:r>
            <a:endParaRPr sz="1650" b="1">
              <a:solidFill>
                <a:srgbClr val="F3F7FC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2" name="矩形 21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03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当前平台架构：五层分离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1000125" y="106680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4243A"/>
          </a:solidFill>
          <a:ln w="14288">
            <a:solidFill>
              <a:srgbClr val="59A7F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57300" y="12382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59A7FF"/>
                </a:solidFill>
              </a:defRPr>
            </a:defPPr>
          </a:lstStyle>
          <a:p>
            <a:pPr algn="l">
              <a:defRPr sz="1575" b="1">
                <a:solidFill>
                  <a:srgbClr val="59A7FF"/>
                </a:solidFill>
              </a:defRPr>
            </a:pPr>
            <a:r>
              <a:rPr sz="1575" b="1">
                <a:solidFill>
                  <a:srgbClr val="59A7FF"/>
                </a:solidFill>
              </a:rPr>
              <a:t>交互层</a:t>
            </a:r>
            <a:endParaRPr sz="1575" b="1">
              <a:solidFill>
                <a:srgbClr val="59A7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429000" y="12382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Vue 3 · Markdown/KaTeX · Plotly · 实时流程图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000125" y="200025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01D30"/>
          </a:solidFill>
          <a:ln w="14288">
            <a:solidFill>
              <a:srgbClr val="4FE0D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57300" y="21717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4FE0D0"/>
                </a:solidFill>
              </a:defRPr>
            </a:defPPr>
          </a:lstStyle>
          <a:p>
            <a:pPr algn="l">
              <a:defRPr sz="1575" b="1">
                <a:solidFill>
                  <a:srgbClr val="4FE0D0"/>
                </a:solidFill>
              </a:defRPr>
            </a:pPr>
            <a:r>
              <a:rPr sz="1575" b="1">
                <a:solidFill>
                  <a:srgbClr val="4FE0D0"/>
                </a:solidFill>
              </a:rPr>
              <a:t>接入层</a:t>
            </a:r>
            <a:endParaRPr sz="1575" b="1">
              <a:solidFill>
                <a:srgbClr val="4FE0D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429000" y="21717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FastAPI · SSE · 任务 API · 人工审核 API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1000125" y="293370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4243A"/>
          </a:solidFill>
          <a:ln w="14288">
            <a:solidFill>
              <a:srgbClr val="F6C85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1257300" y="31051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F6C85F"/>
                </a:solidFill>
              </a:defRPr>
            </a:defPPr>
          </a:lstStyle>
          <a:p>
            <a:pPr algn="l">
              <a:defRPr sz="1575" b="1">
                <a:solidFill>
                  <a:srgbClr val="F6C85F"/>
                </a:solidFill>
              </a:defRPr>
            </a:pPr>
            <a:r>
              <a:rPr sz="1575" b="1">
                <a:solidFill>
                  <a:srgbClr val="F6C85F"/>
                </a:solidFill>
              </a:rPr>
              <a:t>Agent 运行时</a:t>
            </a:r>
            <a:endParaRPr sz="1575" b="1">
              <a:solidFill>
                <a:srgbClr val="F6C85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429000" y="31051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LangGraph · 状态机 · interrupt/resume · 角色移交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1000125" y="386715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01D30"/>
          </a:solidFill>
          <a:ln w="14288">
            <a:solidFill>
              <a:srgbClr val="FF7A7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1257300" y="40386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FF7A72"/>
                </a:solidFill>
              </a:defRPr>
            </a:defPPr>
          </a:lstStyle>
          <a:p>
            <a:pPr algn="l">
              <a:defRPr sz="1575" b="1">
                <a:solidFill>
                  <a:srgbClr val="FF7A72"/>
                </a:solidFill>
              </a:defRPr>
            </a:pPr>
            <a:r>
              <a:rPr sz="1575" b="1">
                <a:solidFill>
                  <a:srgbClr val="FF7A72"/>
                </a:solidFill>
              </a:rPr>
              <a:t>可信执行层</a:t>
            </a:r>
            <a:endParaRPr sz="1575" b="1">
              <a:solidFill>
                <a:srgbClr val="FF7A7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429000" y="403860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工具注册 · Schema 校验 · 安全表达式 · 程序验证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1000125" y="4800600"/>
            <a:ext cx="10191750" cy="685800"/>
          </a:xfrm>
          <a:prstGeom prst="roundRect">
            <a:avLst>
              <a:gd name="adj" fmla="val 16667"/>
            </a:avLst>
          </a:prstGeom>
          <a:solidFill>
            <a:srgbClr val="14243A"/>
          </a:solidFill>
          <a:ln w="14288">
            <a:solidFill>
              <a:srgbClr val="67D391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257300" y="49720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67D391"/>
                </a:solidFill>
              </a:defRPr>
            </a:defPPr>
          </a:lstStyle>
          <a:p>
            <a:pPr algn="l">
              <a:defRPr sz="1575" b="1">
                <a:solidFill>
                  <a:srgbClr val="67D391"/>
                </a:solidFill>
              </a:defRPr>
            </a:pPr>
            <a:r>
              <a:rPr sz="1575" b="1">
                <a:solidFill>
                  <a:srgbClr val="67D391"/>
                </a:solidFill>
              </a:rPr>
              <a:t>基础设施层</a:t>
            </a:r>
            <a:endParaRPr sz="1575" b="1">
              <a:solidFill>
                <a:srgbClr val="67D391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429000" y="4972050"/>
            <a:ext cx="7239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vLLM/OpenAI-compatible · SQLite · Checkpointer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000125" y="5905500"/>
            <a:ext cx="114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4FE0D0"/>
                </a:solidFill>
              </a:defRPr>
            </a:defPPr>
          </a:lstStyle>
          <a:p>
            <a:pPr algn="l">
              <a:defRPr sz="1050" b="1">
                <a:solidFill>
                  <a:srgbClr val="4FE0D0"/>
                </a:solidFill>
              </a:defRPr>
            </a:pPr>
            <a:r>
              <a:rPr sz="1050" b="1">
                <a:solidFill>
                  <a:srgbClr val="4FE0D0"/>
                </a:solidFill>
              </a:rPr>
              <a:t>关键边界</a:t>
            </a:r>
            <a:endParaRPr sz="1050" b="1">
              <a:solidFill>
                <a:srgbClr val="4FE0D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247900" y="5819775"/>
            <a:ext cx="885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>
                <a:solidFill>
                  <a:srgbClr val="F3F7FC"/>
                </a:solidFill>
              </a:defRPr>
            </a:defPPr>
          </a:lstStyle>
          <a:p>
            <a:pPr algn="l">
              <a:defRPr sz="1500" b="1">
                <a:solidFill>
                  <a:srgbClr val="F3F7FC"/>
                </a:solidFill>
              </a:defRPr>
            </a:pPr>
            <a:r>
              <a:rPr sz="1500" b="1">
                <a:solidFill>
                  <a:srgbClr val="F3F7FC"/>
                </a:solidFill>
              </a:rPr>
              <a:t>模型只负责决策和解释；工具负责计算；验证器负责给出不可被模型覆盖的证据</a:t>
            </a:r>
            <a:endParaRPr sz="1500" b="1">
              <a:solidFill>
                <a:srgbClr val="F3F7F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3" name="矩形 32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04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Agent 运行时：一个受控的</a:t>
            </a:r>
            <a:r>
              <a:rPr lang="en-US" sz="2250" b="1">
                <a:solidFill>
                  <a:srgbClr val="F3F7FC"/>
                </a:solidFill>
              </a:rPr>
              <a:t>ReAct</a:t>
            </a:r>
            <a:r>
              <a:rPr sz="2250" b="1">
                <a:solidFill>
                  <a:srgbClr val="F3F7FC"/>
                </a:solidFill>
              </a:rPr>
              <a:t>闭环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47750" y="1714500"/>
            <a:ext cx="1809750" cy="990600"/>
          </a:xfrm>
          <a:prstGeom prst="roundRect">
            <a:avLst>
              <a:gd name="adj" fmla="val 11538"/>
            </a:avLst>
          </a:prstGeom>
          <a:solidFill>
            <a:srgbClr val="14243A"/>
          </a:solidFill>
          <a:ln w="19050">
            <a:solidFill>
              <a:srgbClr val="59A7F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19200" y="18669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>
                <a:solidFill>
                  <a:srgbClr val="59A7FF"/>
                </a:solidFill>
              </a:defRPr>
            </a:defPPr>
          </a:lstStyle>
          <a:p>
            <a:pPr algn="l">
              <a:defRPr sz="1500" b="1">
                <a:solidFill>
                  <a:srgbClr val="59A7FF"/>
                </a:solidFill>
              </a:defRPr>
            </a:pPr>
            <a:r>
              <a:rPr sz="1500" b="1">
                <a:solidFill>
                  <a:srgbClr val="59A7FF"/>
                </a:solidFill>
              </a:rPr>
              <a:t>1  理解</a:t>
            </a:r>
            <a:endParaRPr sz="1500" b="1">
              <a:solidFill>
                <a:srgbClr val="59A7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219200" y="22383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结构化任务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3714750" y="1714500"/>
            <a:ext cx="1809750" cy="990600"/>
          </a:xfrm>
          <a:prstGeom prst="roundRect">
            <a:avLst>
              <a:gd name="adj" fmla="val 11538"/>
            </a:avLst>
          </a:prstGeom>
          <a:solidFill>
            <a:srgbClr val="14243A"/>
          </a:solidFill>
          <a:ln w="19050">
            <a:solidFill>
              <a:srgbClr val="4FE0D0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3886200" y="18669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>
                <a:solidFill>
                  <a:srgbClr val="4FE0D0"/>
                </a:solidFill>
              </a:defRPr>
            </a:defPPr>
          </a:lstStyle>
          <a:p>
            <a:pPr algn="l">
              <a:defRPr sz="1500" b="1">
                <a:solidFill>
                  <a:srgbClr val="4FE0D0"/>
                </a:solidFill>
              </a:defRPr>
            </a:pPr>
            <a:r>
              <a:rPr sz="1500" b="1">
                <a:solidFill>
                  <a:srgbClr val="4FE0D0"/>
                </a:solidFill>
              </a:rPr>
              <a:t>2  决策</a:t>
            </a:r>
            <a:endParaRPr sz="1500" b="1">
              <a:solidFill>
                <a:srgbClr val="4FE0D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3886200" y="22383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调用或结束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381750" y="1714500"/>
            <a:ext cx="1809750" cy="990600"/>
          </a:xfrm>
          <a:prstGeom prst="roundRect">
            <a:avLst>
              <a:gd name="adj" fmla="val 11538"/>
            </a:avLst>
          </a:prstGeom>
          <a:solidFill>
            <a:srgbClr val="14243A"/>
          </a:solidFill>
          <a:ln w="19050">
            <a:solidFill>
              <a:srgbClr val="F6C85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553200" y="18669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>
                <a:solidFill>
                  <a:srgbClr val="F6C85F"/>
                </a:solidFill>
              </a:defRPr>
            </a:defPPr>
          </a:lstStyle>
          <a:p>
            <a:pPr algn="l">
              <a:defRPr sz="1500" b="1">
                <a:solidFill>
                  <a:srgbClr val="F6C85F"/>
                </a:solidFill>
              </a:defRPr>
            </a:pPr>
            <a:r>
              <a:rPr sz="1500" b="1">
                <a:solidFill>
                  <a:srgbClr val="F6C85F"/>
                </a:solidFill>
              </a:rPr>
              <a:t>3  执行</a:t>
            </a:r>
            <a:endParaRPr sz="1500" b="1">
              <a:solidFill>
                <a:srgbClr val="F6C85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553200" y="22383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白名单工具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9048750" y="1714500"/>
            <a:ext cx="1809750" cy="990600"/>
          </a:xfrm>
          <a:prstGeom prst="roundRect">
            <a:avLst>
              <a:gd name="adj" fmla="val 11538"/>
            </a:avLst>
          </a:prstGeom>
          <a:solidFill>
            <a:srgbClr val="14243A"/>
          </a:solidFill>
          <a:ln w="19050">
            <a:solidFill>
              <a:srgbClr val="FF7A72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9220200" y="1866900"/>
            <a:ext cx="1466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>
                <a:solidFill>
                  <a:srgbClr val="FF7A72"/>
                </a:solidFill>
              </a:defRPr>
            </a:defPPr>
          </a:lstStyle>
          <a:p>
            <a:pPr algn="l">
              <a:defRPr sz="1500" b="1">
                <a:solidFill>
                  <a:srgbClr val="FF7A72"/>
                </a:solidFill>
              </a:defRPr>
            </a:pPr>
            <a:r>
              <a:rPr sz="1500" b="1">
                <a:solidFill>
                  <a:srgbClr val="FF7A72"/>
                </a:solidFill>
              </a:rPr>
              <a:t>4  验证</a:t>
            </a:r>
            <a:endParaRPr sz="1500" b="1">
              <a:solidFill>
                <a:srgbClr val="FF7A7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220200" y="2238375"/>
            <a:ext cx="1466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程序证据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16" name="直接连接符 15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857500" y="2209800"/>
            <a:ext cx="803275" cy="635"/>
          </a:xfrm>
          <a:prstGeom prst="line">
            <a:avLst/>
          </a:prstGeom>
          <a:noFill/>
          <a:ln w="19050">
            <a:solidFill>
              <a:srgbClr val="59A7FF"/>
            </a:solidFill>
            <a:prstDash val="solid"/>
          </a:ln>
        </p:spPr>
      </p:sp>
      <p:sp>
        <p:nvSpPr>
          <p:cNvPr id="17" name="等腰三角形 16"/>
          <p:cNvSpPr>
            <a:spLocks noGrp="1"/>
          </p:cNvSpPr>
          <p:nvPr>
            <p:custDataLst>
              <p:tags r:id="rId14"/>
            </p:custDataLst>
          </p:nvPr>
        </p:nvSpPr>
        <p:spPr>
          <a:xfrm rot="5400000">
            <a:off x="3581400" y="2152650"/>
            <a:ext cx="114300" cy="114300"/>
          </a:xfrm>
          <a:prstGeom prst="triangle">
            <a:avLst/>
          </a:prstGeom>
          <a:solidFill>
            <a:srgbClr val="59A7FF"/>
          </a:solidFill>
          <a:ln w="0">
            <a:solidFill>
              <a:srgbClr val="59A7FF"/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5524500" y="2209800"/>
            <a:ext cx="857250" cy="0"/>
          </a:xfrm>
          <a:prstGeom prst="line">
            <a:avLst/>
          </a:prstGeom>
          <a:noFill/>
          <a:ln w="19050">
            <a:solidFill>
              <a:srgbClr val="59A7FF"/>
            </a:solidFill>
            <a:prstDash val="solid"/>
          </a:ln>
        </p:spPr>
      </p:sp>
      <p:sp>
        <p:nvSpPr>
          <p:cNvPr id="19" name="等腰三角形 18"/>
          <p:cNvSpPr>
            <a:spLocks noGrp="1"/>
          </p:cNvSpPr>
          <p:nvPr>
            <p:custDataLst>
              <p:tags r:id="rId16"/>
            </p:custDataLst>
          </p:nvPr>
        </p:nvSpPr>
        <p:spPr>
          <a:xfrm rot="5400000">
            <a:off x="6264275" y="2152650"/>
            <a:ext cx="114300" cy="114300"/>
          </a:xfrm>
          <a:prstGeom prst="triangle">
            <a:avLst/>
          </a:prstGeom>
          <a:solidFill>
            <a:srgbClr val="59A7FF"/>
          </a:solidFill>
          <a:ln w="0">
            <a:solidFill>
              <a:srgbClr val="59A7FF"/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8191500" y="2209800"/>
            <a:ext cx="857250" cy="0"/>
          </a:xfrm>
          <a:prstGeom prst="line">
            <a:avLst/>
          </a:prstGeom>
          <a:noFill/>
          <a:ln w="19050">
            <a:solidFill>
              <a:srgbClr val="59A7FF"/>
            </a:solidFill>
            <a:prstDash val="solid"/>
          </a:ln>
        </p:spPr>
      </p:sp>
      <p:sp>
        <p:nvSpPr>
          <p:cNvPr id="21" name="等腰三角形 20"/>
          <p:cNvSpPr>
            <a:spLocks noGrp="1"/>
          </p:cNvSpPr>
          <p:nvPr>
            <p:custDataLst>
              <p:tags r:id="rId18"/>
            </p:custDataLst>
          </p:nvPr>
        </p:nvSpPr>
        <p:spPr>
          <a:xfrm rot="5400000">
            <a:off x="8947150" y="2152650"/>
            <a:ext cx="114300" cy="114300"/>
          </a:xfrm>
          <a:prstGeom prst="triangle">
            <a:avLst/>
          </a:prstGeom>
          <a:solidFill>
            <a:srgbClr val="59A7FF"/>
          </a:solidFill>
          <a:ln w="0">
            <a:solidFill>
              <a:srgbClr val="59A7FF"/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953625" y="2804795"/>
            <a:ext cx="0" cy="1219200"/>
          </a:xfrm>
          <a:prstGeom prst="line">
            <a:avLst/>
          </a:prstGeom>
          <a:noFill/>
          <a:ln w="19050">
            <a:solidFill>
              <a:srgbClr val="FF7A72"/>
            </a:solidFill>
            <a:prstDash val="solid"/>
          </a:ln>
        </p:spPr>
      </p:sp>
      <p:sp>
        <p:nvSpPr>
          <p:cNvPr id="23" name="等腰三角形 22"/>
          <p:cNvSpPr>
            <a:spLocks noGrp="1"/>
          </p:cNvSpPr>
          <p:nvPr/>
        </p:nvSpPr>
        <p:spPr>
          <a:xfrm rot="10800000">
            <a:off x="9886950" y="3966845"/>
            <a:ext cx="114300" cy="114300"/>
          </a:xfrm>
          <a:prstGeom prst="triangle">
            <a:avLst/>
          </a:prstGeom>
          <a:solidFill>
            <a:srgbClr val="FF7A72"/>
          </a:solidFill>
          <a:ln w="0">
            <a:solidFill>
              <a:srgbClr val="FF7A72"/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4695190" y="4095750"/>
            <a:ext cx="5258435" cy="635"/>
          </a:xfrm>
          <a:prstGeom prst="line">
            <a:avLst/>
          </a:prstGeom>
          <a:noFill/>
          <a:ln w="19050">
            <a:solidFill>
              <a:srgbClr val="F6C85F"/>
            </a:solidFill>
            <a:prstDash val="solid"/>
          </a:ln>
        </p:spPr>
      </p:sp>
      <p:sp>
        <p:nvSpPr>
          <p:cNvPr id="25" name="等腰三角形 24"/>
          <p:cNvSpPr>
            <a:spLocks noGrp="1"/>
          </p:cNvSpPr>
          <p:nvPr/>
        </p:nvSpPr>
        <p:spPr>
          <a:xfrm rot="16200000">
            <a:off x="4676775" y="4038600"/>
            <a:ext cx="114300" cy="114300"/>
          </a:xfrm>
          <a:prstGeom prst="triangle">
            <a:avLst/>
          </a:prstGeom>
          <a:solidFill>
            <a:srgbClr val="F6C85F"/>
          </a:solidFill>
          <a:ln w="0">
            <a:solidFill>
              <a:srgbClr val="F6C85F"/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4629150" y="2876550"/>
            <a:ext cx="0" cy="1219200"/>
          </a:xfrm>
          <a:prstGeom prst="line">
            <a:avLst/>
          </a:prstGeom>
          <a:noFill/>
          <a:ln w="19050">
            <a:solidFill>
              <a:srgbClr val="4FE0D0"/>
            </a:solidFill>
            <a:prstDash val="solid"/>
          </a:ln>
        </p:spPr>
      </p:sp>
      <p:sp>
        <p:nvSpPr>
          <p:cNvPr id="27" name="等腰三角形 26"/>
          <p:cNvSpPr>
            <a:spLocks noGrp="1"/>
          </p:cNvSpPr>
          <p:nvPr/>
        </p:nvSpPr>
        <p:spPr>
          <a:xfrm>
            <a:off x="4562475" y="2819400"/>
            <a:ext cx="114300" cy="114300"/>
          </a:xfrm>
          <a:prstGeom prst="triangle">
            <a:avLst/>
          </a:prstGeom>
          <a:solidFill>
            <a:srgbClr val="4FE0D0"/>
          </a:solidFill>
          <a:ln w="0">
            <a:solidFill>
              <a:srgbClr val="4FE0D0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5143500" y="3762375"/>
            <a:ext cx="428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F6C85F"/>
                </a:solidFill>
              </a:defRPr>
            </a:defPPr>
          </a:lstStyle>
          <a:p>
            <a:pPr algn="ctr">
              <a:defRPr sz="1275" b="1">
                <a:solidFill>
                  <a:srgbClr val="F6C85F"/>
                </a:solidFill>
              </a:defRPr>
            </a:pPr>
            <a:r>
              <a:rPr sz="1275" b="1">
                <a:solidFill>
                  <a:srgbClr val="F6C85F"/>
                </a:solidFill>
              </a:rPr>
              <a:t>未完成或验证失败：把观察写回账本，再次决策</a:t>
            </a:r>
            <a:endParaRPr sz="1275" b="1">
              <a:solidFill>
                <a:srgbClr val="F6C85F"/>
              </a:solidFill>
            </a:endParaRPr>
          </a:p>
        </p:txBody>
      </p:sp>
      <p:sp>
        <p:nvSpPr>
          <p:cNvPr id="29" name="圆角矩形 28"/>
          <p:cNvSpPr>
            <a:spLocks noGrp="1"/>
          </p:cNvSpPr>
          <p:nvPr/>
        </p:nvSpPr>
        <p:spPr>
          <a:xfrm>
            <a:off x="1619250" y="4857750"/>
            <a:ext cx="8953500" cy="800100"/>
          </a:xfrm>
          <a:prstGeom prst="roundRect">
            <a:avLst>
              <a:gd name="adj" fmla="val 14286"/>
            </a:avLst>
          </a:prstGeom>
          <a:solidFill>
            <a:srgbClr val="101D30"/>
          </a:solidFill>
          <a:ln w="9525">
            <a:solidFill>
              <a:srgbClr val="29415E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1866900" y="50482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1">
                <a:solidFill>
                  <a:srgbClr val="4FE0D0"/>
                </a:solidFill>
              </a:defRPr>
            </a:defPPr>
          </a:lstStyle>
          <a:p>
            <a:pPr algn="l">
              <a:defRPr sz="1275" b="1">
                <a:solidFill>
                  <a:srgbClr val="4FE0D0"/>
                </a:solidFill>
              </a:defRPr>
            </a:pPr>
            <a:r>
              <a:rPr sz="1275" b="1">
                <a:solidFill>
                  <a:srgbClr val="4FE0D0"/>
                </a:solidFill>
              </a:rPr>
              <a:t>终止条件</a:t>
            </a:r>
            <a:endParaRPr sz="1275" b="1">
              <a:solidFill>
                <a:srgbClr val="4FE0D0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143250" y="5019675"/>
            <a:ext cx="704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F3F7FC"/>
                </a:solidFill>
              </a:defRPr>
            </a:defPPr>
          </a:lstStyle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显式目标全部完成，或达到重试/步数/超时边界，或人工终止</a:t>
            </a:r>
            <a:endParaRPr sz="1425" b="0">
              <a:solidFill>
                <a:srgbClr val="F3F7FC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05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多 Agent 设计：按责任拆分，而非按模型数量拆分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81050" y="12382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250" b="1">
                <a:solidFill>
                  <a:srgbClr val="59A7FF"/>
                </a:solidFill>
              </a:defRPr>
            </a:defPPr>
          </a:lstStyle>
          <a:p>
            <a:pPr algn="ctr">
              <a:defRPr sz="2250" b="1">
                <a:solidFill>
                  <a:srgbClr val="59A7FF"/>
                </a:solidFill>
              </a:defRPr>
            </a:pPr>
            <a:r>
              <a:rPr sz="2250" b="1">
                <a:solidFill>
                  <a:srgbClr val="59A7FF"/>
                </a:solidFill>
              </a:rPr>
              <a:t>1</a:t>
            </a:r>
            <a:endParaRPr sz="2250" b="1">
              <a:solidFill>
                <a:srgbClr val="59A7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90650" y="11430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59A7FF"/>
                </a:solidFill>
              </a:defRPr>
            </a:defPPr>
          </a:lstStyle>
          <a:p>
            <a:pPr algn="l">
              <a:defRPr sz="1575" b="1">
                <a:solidFill>
                  <a:srgbClr val="59A7FF"/>
                </a:solidFill>
              </a:defRPr>
            </a:pPr>
            <a:r>
              <a:rPr sz="1575" b="1">
                <a:solidFill>
                  <a:srgbClr val="59A7FF"/>
                </a:solidFill>
              </a:rPr>
              <a:t>Problem Analyst</a:t>
            </a:r>
            <a:endParaRPr sz="1575" b="1">
              <a:solidFill>
                <a:srgbClr val="59A7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90650" y="15049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把自然语言变成结构化任务说明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715250" y="13335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275" b="0">
                <a:solidFill>
                  <a:srgbClr val="9EB0C7"/>
                </a:solidFill>
              </a:defRPr>
            </a:defPPr>
          </a:lstStyle>
          <a:p>
            <a:pPr algn="r">
              <a:defRPr sz="1275" b="0">
                <a:solidFill>
                  <a:srgbClr val="9EB0C7"/>
                </a:solidFill>
              </a:defRPr>
            </a:pPr>
            <a:r>
              <a:rPr sz="1275" b="0">
                <a:solidFill>
                  <a:srgbClr val="9EB0C7"/>
                </a:solidFill>
              </a:rPr>
              <a:t>不执行计算</a:t>
            </a:r>
            <a:endParaRPr sz="1275" b="0">
              <a:solidFill>
                <a:srgbClr val="9EB0C7"/>
              </a:solidFill>
            </a:endParaRPr>
          </a:p>
        </p:txBody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390650" y="2000250"/>
            <a:ext cx="946785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81050" y="24003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250" b="1">
                <a:solidFill>
                  <a:srgbClr val="4FE0D0"/>
                </a:solidFill>
              </a:defRPr>
            </a:defPPr>
          </a:lstStyle>
          <a:p>
            <a:pPr algn="ctr">
              <a:defRPr sz="2250" b="1">
                <a:solidFill>
                  <a:srgbClr val="4FE0D0"/>
                </a:solidFill>
              </a:defRPr>
            </a:pPr>
            <a:r>
              <a:rPr sz="2250" b="1">
                <a:solidFill>
                  <a:srgbClr val="4FE0D0"/>
                </a:solidFill>
              </a:rPr>
              <a:t>2</a:t>
            </a:r>
            <a:endParaRPr sz="2250" b="1">
              <a:solidFill>
                <a:srgbClr val="4FE0D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90650" y="23050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4FE0D0"/>
                </a:solidFill>
              </a:defRPr>
            </a:defPPr>
          </a:lstStyle>
          <a:p>
            <a:pPr algn="l">
              <a:defRPr sz="1575" b="1">
                <a:solidFill>
                  <a:srgbClr val="4FE0D0"/>
                </a:solidFill>
              </a:defRPr>
            </a:pPr>
            <a:r>
              <a:rPr sz="1575" b="1">
                <a:solidFill>
                  <a:srgbClr val="4FE0D0"/>
                </a:solidFill>
              </a:rPr>
              <a:t>Scientific Solver</a:t>
            </a:r>
            <a:endParaRPr sz="1575" b="1">
              <a:solidFill>
                <a:srgbClr val="4FE0D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90650" y="26670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读取账本，选择下一次受控工具调用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715250" y="24955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275" b="0">
                <a:solidFill>
                  <a:srgbClr val="9EB0C7"/>
                </a:solidFill>
              </a:defRPr>
            </a:defPPr>
          </a:lstStyle>
          <a:p>
            <a:pPr algn="r">
              <a:defRPr sz="1275" b="0">
                <a:solidFill>
                  <a:srgbClr val="9EB0C7"/>
                </a:solidFill>
              </a:defRPr>
            </a:pPr>
            <a:r>
              <a:rPr sz="1275" b="0">
                <a:solidFill>
                  <a:srgbClr val="9EB0C7"/>
                </a:solidFill>
              </a:rPr>
              <a:t>不自证结果</a:t>
            </a:r>
            <a:endParaRPr sz="1275" b="0">
              <a:solidFill>
                <a:srgbClr val="9EB0C7"/>
              </a:solidFill>
            </a:endParaRPr>
          </a:p>
        </p:txBody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1390650" y="3162300"/>
            <a:ext cx="946785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356235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250" b="1">
                <a:solidFill>
                  <a:srgbClr val="FF7A72"/>
                </a:solidFill>
              </a:defRPr>
            </a:defPPr>
          </a:lstStyle>
          <a:p>
            <a:pPr algn="ctr">
              <a:defRPr sz="2250" b="1">
                <a:solidFill>
                  <a:srgbClr val="FF7A72"/>
                </a:solidFill>
              </a:defRPr>
            </a:pPr>
            <a:r>
              <a:rPr sz="2250" b="1">
                <a:solidFill>
                  <a:srgbClr val="FF7A72"/>
                </a:solidFill>
              </a:rPr>
              <a:t>3</a:t>
            </a:r>
            <a:endParaRPr sz="2250" b="1">
              <a:solidFill>
                <a:srgbClr val="FF7A72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90650" y="34671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FF7A72"/>
                </a:solidFill>
              </a:defRPr>
            </a:defPPr>
          </a:lstStyle>
          <a:p>
            <a:pPr algn="l">
              <a:defRPr sz="1575" b="1">
                <a:solidFill>
                  <a:srgbClr val="FF7A72"/>
                </a:solidFill>
              </a:defRPr>
            </a:pPr>
            <a:r>
              <a:rPr sz="1575" b="1">
                <a:solidFill>
                  <a:srgbClr val="FF7A72"/>
                </a:solidFill>
              </a:rPr>
              <a:t>Verification Critic</a:t>
            </a:r>
            <a:endParaRPr sz="1575" b="1">
              <a:solidFill>
                <a:srgbClr val="FF7A7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90650" y="382905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读取程序证据，接受当前步骤或退回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715250" y="365760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275" b="0">
                <a:solidFill>
                  <a:srgbClr val="9EB0C7"/>
                </a:solidFill>
              </a:defRPr>
            </a:defPPr>
          </a:lstStyle>
          <a:p>
            <a:pPr algn="r">
              <a:defRPr sz="1275" b="0">
                <a:solidFill>
                  <a:srgbClr val="9EB0C7"/>
                </a:solidFill>
              </a:defRPr>
            </a:pPr>
            <a:r>
              <a:rPr sz="1275" b="0">
                <a:solidFill>
                  <a:srgbClr val="9EB0C7"/>
                </a:solidFill>
              </a:rPr>
              <a:t>不改写硬证据</a:t>
            </a:r>
            <a:endParaRPr sz="1275" b="0">
              <a:solidFill>
                <a:srgbClr val="9EB0C7"/>
              </a:solidFill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1390650" y="4324350"/>
            <a:ext cx="946785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1050" y="4724400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2250" b="1">
                <a:solidFill>
                  <a:srgbClr val="67D391"/>
                </a:solidFill>
              </a:defRPr>
            </a:defPPr>
          </a:lstStyle>
          <a:p>
            <a:pPr algn="ctr">
              <a:defRPr sz="2250" b="1">
                <a:solidFill>
                  <a:srgbClr val="67D391"/>
                </a:solidFill>
              </a:defRPr>
            </a:pPr>
            <a:r>
              <a:rPr sz="2250" b="1">
                <a:solidFill>
                  <a:srgbClr val="67D391"/>
                </a:solidFill>
              </a:rPr>
              <a:t>4</a:t>
            </a:r>
            <a:endParaRPr sz="2250" b="1">
              <a:solidFill>
                <a:srgbClr val="67D391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390650" y="46291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67D391"/>
                </a:solidFill>
              </a:defRPr>
            </a:defPPr>
          </a:lstStyle>
          <a:p>
            <a:pPr algn="l">
              <a:defRPr sz="1575" b="1">
                <a:solidFill>
                  <a:srgbClr val="67D391"/>
                </a:solidFill>
              </a:defRPr>
            </a:pPr>
            <a:r>
              <a:rPr sz="1575" b="1">
                <a:solidFill>
                  <a:srgbClr val="67D391"/>
                </a:solidFill>
              </a:rPr>
              <a:t>Report Writer</a:t>
            </a:r>
            <a:endParaRPr sz="1575" b="1">
              <a:solidFill>
                <a:srgbClr val="67D39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90650" y="4991100"/>
            <a:ext cx="581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只使用通过验证的记录组织最终答案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715250" y="4819650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r">
              <a:defRPr sz="1275" b="0">
                <a:solidFill>
                  <a:srgbClr val="9EB0C7"/>
                </a:solidFill>
              </a:defRPr>
            </a:defPPr>
          </a:lstStyle>
          <a:p>
            <a:pPr algn="r">
              <a:defRPr sz="1275" b="0">
                <a:solidFill>
                  <a:srgbClr val="9EB0C7"/>
                </a:solidFill>
              </a:defRPr>
            </a:pPr>
            <a:r>
              <a:rPr sz="1275" b="0">
                <a:solidFill>
                  <a:srgbClr val="9EB0C7"/>
                </a:solidFill>
              </a:rPr>
              <a:t>不补造结果</a:t>
            </a:r>
            <a:endParaRPr sz="1275" b="0">
              <a:solidFill>
                <a:srgbClr val="9EB0C7"/>
              </a:solidFill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1390650" y="5486400"/>
            <a:ext cx="946785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24" name="圆角矩形 23"/>
          <p:cNvSpPr>
            <a:spLocks noGrp="1"/>
          </p:cNvSpPr>
          <p:nvPr/>
        </p:nvSpPr>
        <p:spPr>
          <a:xfrm>
            <a:off x="2562860" y="5897245"/>
            <a:ext cx="1905000" cy="285750"/>
          </a:xfrm>
          <a:prstGeom prst="roundRect">
            <a:avLst>
              <a:gd name="adj" fmla="val 40000"/>
            </a:avLst>
          </a:prstGeom>
          <a:solidFill>
            <a:srgbClr val="F6C85F"/>
          </a:solidFill>
          <a:ln w="0">
            <a:solidFill>
              <a:srgbClr val="F6C85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2562860" y="5916295"/>
            <a:ext cx="2022475" cy="2038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F6C85F"/>
                </a:solidFill>
              </a:defRPr>
            </a:defPPr>
          </a:lstStyle>
          <a:p>
            <a:pPr algn="ctr">
              <a:defRPr sz="975" b="1">
                <a:solidFill>
                  <a:srgbClr val="F6C85F"/>
                </a:solidFill>
              </a:defRPr>
            </a:pPr>
            <a:r>
              <a:rPr sz="975" b="1">
                <a:solidFill>
                  <a:schemeClr val="tx1"/>
                </a:solidFill>
              </a:rPr>
              <a:t>共享状态账本</a:t>
            </a:r>
            <a:r>
              <a:rPr lang="zh-CN" sz="975" b="1">
                <a:solidFill>
                  <a:schemeClr val="tx1"/>
                </a:solidFill>
                <a:ea typeface="宋体" panose="02010600030101010101" pitchFamily="2" charset="-122"/>
              </a:rPr>
              <a:t>（简易的记忆</a:t>
            </a:r>
            <a:r>
              <a:rPr lang="zh-CN" sz="975" b="1">
                <a:solidFill>
                  <a:schemeClr val="tx1"/>
                </a:solidFill>
                <a:ea typeface="宋体" panose="02010600030101010101" pitchFamily="2" charset="-122"/>
              </a:rPr>
              <a:t>模块）</a:t>
            </a:r>
            <a:endParaRPr lang="zh-CN" sz="975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4467860" y="6030595"/>
            <a:ext cx="381000" cy="0"/>
          </a:xfrm>
          <a:prstGeom prst="line">
            <a:avLst/>
          </a:prstGeom>
          <a:noFill/>
          <a:ln w="19050">
            <a:solidFill>
              <a:srgbClr val="F6C85F"/>
            </a:solidFill>
            <a:prstDash val="solid"/>
          </a:ln>
        </p:spPr>
      </p:sp>
      <p:sp>
        <p:nvSpPr>
          <p:cNvPr id="29" name="等腰三角形 28"/>
          <p:cNvSpPr>
            <a:spLocks noGrp="1"/>
          </p:cNvSpPr>
          <p:nvPr/>
        </p:nvSpPr>
        <p:spPr>
          <a:xfrm rot="5400000">
            <a:off x="4782185" y="5973445"/>
            <a:ext cx="114300" cy="114300"/>
          </a:xfrm>
          <a:prstGeom prst="triangle">
            <a:avLst/>
          </a:prstGeom>
          <a:solidFill>
            <a:srgbClr val="F6C85F"/>
          </a:solidFill>
          <a:ln w="0">
            <a:solidFill>
              <a:srgbClr val="F6C85F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4944110" y="5878195"/>
            <a:ext cx="4095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F3F7FC"/>
                </a:solidFill>
              </a:defRPr>
            </a:defPPr>
          </a:lstStyle>
          <a:p>
            <a:pPr algn="l">
              <a:defRPr sz="1275" b="0">
                <a:solidFill>
                  <a:srgbClr val="F3F7FC"/>
                </a:solidFill>
              </a:defRPr>
            </a:pPr>
            <a:r>
              <a:rPr sz="1275" b="0">
                <a:solidFill>
                  <a:srgbClr val="F3F7FC"/>
                </a:solidFill>
              </a:rPr>
              <a:t>handoff 事件让责任转移可观察、可回放</a:t>
            </a:r>
            <a:endParaRPr sz="1275" b="0">
              <a:solidFill>
                <a:srgbClr val="F3F7FC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" name="矩形 26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06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状态与上下文：Agent 的真正“记忆”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762000" y="1123950"/>
            <a:ext cx="3429000" cy="4343400"/>
          </a:xfrm>
          <a:prstGeom prst="roundRect">
            <a:avLst>
              <a:gd name="adj" fmla="val 3333"/>
            </a:avLst>
          </a:prstGeom>
          <a:solidFill>
            <a:srgbClr val="14243A"/>
          </a:solidFill>
          <a:ln w="14288">
            <a:solidFill>
              <a:srgbClr val="59A7F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47750" y="137160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725" b="1">
                <a:solidFill>
                  <a:srgbClr val="59A7FF"/>
                </a:solidFill>
              </a:defRPr>
            </a:defPPr>
          </a:lstStyle>
          <a:p>
            <a:pPr algn="l">
              <a:defRPr sz="1725" b="1">
                <a:solidFill>
                  <a:srgbClr val="59A7FF"/>
                </a:solidFill>
              </a:defRPr>
            </a:pPr>
            <a:r>
              <a:rPr sz="1725" b="1">
                <a:solidFill>
                  <a:srgbClr val="59A7FF"/>
                </a:solidFill>
              </a:rPr>
              <a:t>任务状态</a:t>
            </a:r>
            <a:endParaRPr sz="1725" b="1">
              <a:solidFill>
                <a:srgbClr val="59A7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1924050"/>
            <a:ext cx="414655" cy="22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01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04950" y="18859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用户问题与结构化分析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2438400"/>
            <a:ext cx="414655" cy="22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02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504950" y="24003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pending_action 与工具调用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66800" y="2952750"/>
            <a:ext cx="414655" cy="22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03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504950" y="29146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observations 与验证结果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066800" y="3467100"/>
            <a:ext cx="414655" cy="22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04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504950" y="34290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active_agent 与 handoff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066800" y="3981450"/>
            <a:ext cx="414655" cy="22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05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04950" y="39433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retry_count 与人工反馈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66800" y="4495800"/>
            <a:ext cx="414655" cy="225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06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504950" y="44577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0">
                <a:solidFill>
                  <a:srgbClr val="F3F7FC"/>
                </a:solidFill>
              </a:defRPr>
            </a:defPPr>
          </a:lstStyle>
          <a:p>
            <a:pPr algn="l">
              <a:defRPr sz="1200" b="0">
                <a:solidFill>
                  <a:srgbClr val="F3F7FC"/>
                </a:solidFill>
              </a:defRPr>
            </a:pPr>
            <a:r>
              <a:rPr sz="1200" b="0">
                <a:solidFill>
                  <a:srgbClr val="F3F7FC"/>
                </a:solidFill>
              </a:rPr>
              <a:t>最终答案与错误状态</a:t>
            </a:r>
            <a:endParaRPr sz="1200" b="0">
              <a:solidFill>
                <a:srgbClr val="F3F7FC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4857750" y="1123950"/>
            <a:ext cx="6572250" cy="1952625"/>
          </a:xfrm>
          <a:prstGeom prst="roundRect">
            <a:avLst>
              <a:gd name="adj" fmla="val 5854"/>
            </a:avLst>
          </a:prstGeom>
          <a:solidFill>
            <a:srgbClr val="101D30"/>
          </a:solidFill>
          <a:ln w="14288">
            <a:solidFill>
              <a:srgbClr val="4FE0D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143500" y="13716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725" b="1">
                <a:solidFill>
                  <a:srgbClr val="4FE0D0"/>
                </a:solidFill>
              </a:defRPr>
            </a:defPPr>
          </a:lstStyle>
          <a:p>
            <a:pPr algn="l">
              <a:defRPr sz="1725" b="1">
                <a:solidFill>
                  <a:srgbClr val="4FE0D0"/>
                </a:solidFill>
              </a:defRPr>
            </a:pPr>
            <a:r>
              <a:rPr sz="1725" b="1">
                <a:solidFill>
                  <a:srgbClr val="4FE0D0"/>
                </a:solidFill>
              </a:rPr>
              <a:t>给模型的上下文</a:t>
            </a:r>
            <a:endParaRPr sz="1725" b="1">
              <a:solidFill>
                <a:srgbClr val="4FE0D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194310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F3F7FC"/>
                </a:solidFill>
              </a:defRPr>
            </a:defPPr>
          </a:lstStyle>
          <a:p>
            <a:pPr algn="l">
              <a:defRPr sz="1575" b="1">
                <a:solidFill>
                  <a:srgbClr val="F3F7FC"/>
                </a:solidFill>
              </a:defRPr>
            </a:pPr>
            <a:r>
              <a:rPr sz="1575" b="1">
                <a:solidFill>
                  <a:srgbClr val="F3F7FC"/>
                </a:solidFill>
              </a:rPr>
              <a:t>较早对话摘要 + 最近两轮 + 当前问题</a:t>
            </a:r>
            <a:endParaRPr sz="1575" b="1">
              <a:solidFill>
                <a:srgbClr val="F3F7FC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43500" y="240030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9EB0C7"/>
                </a:solidFill>
              </a:defRPr>
            </a:defPPr>
          </a:lstStyle>
          <a:p>
            <a:pPr algn="l">
              <a:defRPr sz="1275" b="0">
                <a:solidFill>
                  <a:srgbClr val="9EB0C7"/>
                </a:solidFill>
              </a:defRPr>
            </a:pPr>
            <a:r>
              <a:rPr sz="1275" b="0">
                <a:solidFill>
                  <a:srgbClr val="9EB0C7"/>
                </a:solidFill>
              </a:rPr>
              <a:t>不回放完整事件和工具轨迹，并限制到约 3500 字符</a:t>
            </a:r>
            <a:endParaRPr sz="1275" b="0">
              <a:solidFill>
                <a:srgbClr val="9EB0C7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4857750" y="3476625"/>
            <a:ext cx="6572250" cy="1990725"/>
          </a:xfrm>
          <a:prstGeom prst="roundRect">
            <a:avLst>
              <a:gd name="adj" fmla="val 5742"/>
            </a:avLst>
          </a:prstGeom>
          <a:solidFill>
            <a:srgbClr val="101D30"/>
          </a:solidFill>
          <a:ln w="14288">
            <a:solidFill>
              <a:srgbClr val="F6C85F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143500" y="372427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725" b="1">
                <a:solidFill>
                  <a:srgbClr val="F6C85F"/>
                </a:solidFill>
              </a:defRPr>
            </a:defPPr>
          </a:lstStyle>
          <a:p>
            <a:pPr algn="l">
              <a:defRPr sz="1725" b="1">
                <a:solidFill>
                  <a:srgbClr val="F6C85F"/>
                </a:solidFill>
              </a:defRPr>
            </a:pPr>
            <a:r>
              <a:rPr sz="1725" b="1">
                <a:solidFill>
                  <a:srgbClr val="F6C85F"/>
                </a:solidFill>
              </a:rPr>
              <a:t>给系统的账本</a:t>
            </a:r>
            <a:endParaRPr sz="1725" b="1">
              <a:solidFill>
                <a:srgbClr val="F6C85F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43500" y="4295775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>
                <a:solidFill>
                  <a:srgbClr val="F3F7FC"/>
                </a:solidFill>
              </a:defRPr>
            </a:defPPr>
          </a:lstStyle>
          <a:p>
            <a:pPr algn="l">
              <a:defRPr sz="1500" b="1">
                <a:solidFill>
                  <a:srgbClr val="F3F7FC"/>
                </a:solidFill>
              </a:defRPr>
            </a:pPr>
            <a:r>
              <a:rPr sz="1500" b="1">
                <a:solidFill>
                  <a:srgbClr val="F3F7FC"/>
                </a:solidFill>
              </a:rPr>
              <a:t>完整工具记录、验证证据、事件序号、会话任务链</a:t>
            </a:r>
            <a:endParaRPr sz="1500" b="1">
              <a:solidFill>
                <a:srgbClr val="F3F7F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5143500" y="4772025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75" b="0">
                <a:solidFill>
                  <a:srgbClr val="9EB0C7"/>
                </a:solidFill>
              </a:defRPr>
            </a:defPPr>
          </a:lstStyle>
          <a:p>
            <a:pPr algn="l">
              <a:defRPr sz="1275" b="0">
                <a:solidFill>
                  <a:srgbClr val="9EB0C7"/>
                </a:solidFill>
              </a:defRPr>
            </a:pPr>
            <a:r>
              <a:rPr sz="1275" b="0">
                <a:solidFill>
                  <a:srgbClr val="9EB0C7"/>
                </a:solidFill>
              </a:rPr>
              <a:t>模型上下文可以压缩，审计账本必须完整保存</a:t>
            </a:r>
            <a:endParaRPr sz="1275" b="0">
              <a:solidFill>
                <a:srgbClr val="9EB0C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矩形 28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07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工具系统：把模型意图收敛为确定性接口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809625" y="1981200"/>
            <a:ext cx="1238250" cy="1238250"/>
          </a:xfrm>
          <a:prstGeom prst="ellipse">
            <a:avLst/>
          </a:prstGeom>
          <a:solidFill>
            <a:srgbClr val="14243A"/>
          </a:solidFill>
          <a:ln w="19050">
            <a:solidFill>
              <a:srgbClr val="59A7F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85825" y="2400300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F3F7FC"/>
                </a:solidFill>
              </a:defRPr>
            </a:defPPr>
          </a:lstStyle>
          <a:p>
            <a:pPr algn="ctr">
              <a:defRPr sz="1275" b="1">
                <a:solidFill>
                  <a:srgbClr val="F3F7FC"/>
                </a:solidFill>
              </a:defRPr>
            </a:pPr>
            <a:r>
              <a:rPr sz="1275" b="1">
                <a:solidFill>
                  <a:srgbClr val="F3F7FC"/>
                </a:solidFill>
              </a:rPr>
              <a:t>模型输出</a:t>
            </a:r>
            <a:endParaRPr sz="1275" b="1">
              <a:solidFill>
                <a:srgbClr val="F3F7FC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/>
        </p:nvSpPr>
        <p:spPr>
          <a:xfrm>
            <a:off x="2085975" y="2600325"/>
            <a:ext cx="1000125" cy="0"/>
          </a:xfrm>
          <a:prstGeom prst="line">
            <a:avLst/>
          </a:prstGeom>
          <a:noFill/>
          <a:ln w="19050">
            <a:solidFill>
              <a:srgbClr val="59A7FF"/>
            </a:solidFill>
            <a:prstDash val="solid"/>
          </a:ln>
        </p:spPr>
      </p:sp>
      <p:sp>
        <p:nvSpPr>
          <p:cNvPr id="7" name="等腰三角形 6"/>
          <p:cNvSpPr>
            <a:spLocks noGrp="1"/>
          </p:cNvSpPr>
          <p:nvPr/>
        </p:nvSpPr>
        <p:spPr>
          <a:xfrm rot="5400000">
            <a:off x="3019425" y="2543175"/>
            <a:ext cx="114300" cy="114300"/>
          </a:xfrm>
          <a:prstGeom prst="triangle">
            <a:avLst/>
          </a:prstGeom>
          <a:solidFill>
            <a:srgbClr val="59A7FF"/>
          </a:solidFill>
          <a:ln w="0">
            <a:solidFill>
              <a:srgbClr val="59A7FF"/>
            </a:solidFill>
            <a:prstDash val="solid"/>
          </a:ln>
        </p:spPr>
      </p:sp>
      <p:sp>
        <p:nvSpPr>
          <p:cNvPr id="8" name="椭圆 7"/>
          <p:cNvSpPr>
            <a:spLocks noGrp="1"/>
          </p:cNvSpPr>
          <p:nvPr/>
        </p:nvSpPr>
        <p:spPr>
          <a:xfrm>
            <a:off x="3143250" y="1981200"/>
            <a:ext cx="1238250" cy="1238250"/>
          </a:xfrm>
          <a:prstGeom prst="ellipse">
            <a:avLst/>
          </a:prstGeom>
          <a:solidFill>
            <a:srgbClr val="14243A"/>
          </a:solidFill>
          <a:ln w="19050">
            <a:solidFill>
              <a:srgbClr val="4FE0D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3219450" y="2400300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F3F7FC"/>
                </a:solidFill>
              </a:defRPr>
            </a:defPPr>
          </a:lstStyle>
          <a:p>
            <a:pPr algn="ctr">
              <a:defRPr sz="1275" b="1">
                <a:solidFill>
                  <a:srgbClr val="F3F7FC"/>
                </a:solidFill>
              </a:defRPr>
            </a:pPr>
            <a:r>
              <a:rPr sz="1275" b="1">
                <a:solidFill>
                  <a:srgbClr val="F3F7FC"/>
                </a:solidFill>
              </a:rPr>
              <a:t>Schema 校验</a:t>
            </a:r>
            <a:endParaRPr sz="1275" b="1">
              <a:solidFill>
                <a:srgbClr val="F3F7FC"/>
              </a:solidFill>
            </a:endParaRPr>
          </a:p>
        </p:txBody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4419600" y="2600325"/>
            <a:ext cx="1000125" cy="0"/>
          </a:xfrm>
          <a:prstGeom prst="line">
            <a:avLst/>
          </a:prstGeom>
          <a:noFill/>
          <a:ln w="19050">
            <a:solidFill>
              <a:srgbClr val="4FE0D0"/>
            </a:solidFill>
            <a:prstDash val="solid"/>
          </a:ln>
        </p:spPr>
      </p:sp>
      <p:sp>
        <p:nvSpPr>
          <p:cNvPr id="11" name="等腰三角形 10"/>
          <p:cNvSpPr>
            <a:spLocks noGrp="1"/>
          </p:cNvSpPr>
          <p:nvPr/>
        </p:nvSpPr>
        <p:spPr>
          <a:xfrm rot="5400000">
            <a:off x="5353050" y="2543175"/>
            <a:ext cx="114300" cy="114300"/>
          </a:xfrm>
          <a:prstGeom prst="triangle">
            <a:avLst/>
          </a:prstGeom>
          <a:solidFill>
            <a:srgbClr val="4FE0D0"/>
          </a:solidFill>
          <a:ln w="0">
            <a:solidFill>
              <a:srgbClr val="4FE0D0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5476875" y="1981200"/>
            <a:ext cx="1238250" cy="1238250"/>
          </a:xfrm>
          <a:prstGeom prst="ellipse">
            <a:avLst/>
          </a:prstGeom>
          <a:solidFill>
            <a:srgbClr val="14243A"/>
          </a:solidFill>
          <a:ln w="19050">
            <a:solidFill>
              <a:srgbClr val="F6C85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5553075" y="2400300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F3F7FC"/>
                </a:solidFill>
              </a:defRPr>
            </a:defPPr>
          </a:lstStyle>
          <a:p>
            <a:pPr algn="ctr">
              <a:defRPr sz="1275" b="1">
                <a:solidFill>
                  <a:srgbClr val="F3F7FC"/>
                </a:solidFill>
              </a:defRPr>
            </a:pPr>
            <a:r>
              <a:rPr sz="1275" b="1">
                <a:solidFill>
                  <a:srgbClr val="F3F7FC"/>
                </a:solidFill>
              </a:rPr>
              <a:t>安全解析</a:t>
            </a:r>
            <a:endParaRPr sz="1275" b="1">
              <a:solidFill>
                <a:srgbClr val="F3F7FC"/>
              </a:solidFill>
            </a:endParaRPr>
          </a:p>
        </p:txBody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6753225" y="2600325"/>
            <a:ext cx="1000125" cy="0"/>
          </a:xfrm>
          <a:prstGeom prst="line">
            <a:avLst/>
          </a:prstGeom>
          <a:noFill/>
          <a:ln w="19050">
            <a:solidFill>
              <a:srgbClr val="F6C85F"/>
            </a:solidFill>
            <a:prstDash val="solid"/>
          </a:ln>
        </p:spPr>
      </p:sp>
      <p:sp>
        <p:nvSpPr>
          <p:cNvPr id="15" name="等腰三角形 14"/>
          <p:cNvSpPr>
            <a:spLocks noGrp="1"/>
          </p:cNvSpPr>
          <p:nvPr/>
        </p:nvSpPr>
        <p:spPr>
          <a:xfrm rot="5400000">
            <a:off x="7686675" y="2543175"/>
            <a:ext cx="114300" cy="114300"/>
          </a:xfrm>
          <a:prstGeom prst="triangle">
            <a:avLst/>
          </a:prstGeom>
          <a:solidFill>
            <a:srgbClr val="F6C85F"/>
          </a:solidFill>
          <a:ln w="0">
            <a:solidFill>
              <a:srgbClr val="F6C85F"/>
            </a:solidFill>
            <a:prstDash val="solid"/>
          </a:ln>
        </p:spPr>
      </p:sp>
      <p:sp>
        <p:nvSpPr>
          <p:cNvPr id="16" name="椭圆 15"/>
          <p:cNvSpPr>
            <a:spLocks noGrp="1"/>
          </p:cNvSpPr>
          <p:nvPr/>
        </p:nvSpPr>
        <p:spPr>
          <a:xfrm>
            <a:off x="7810500" y="1981200"/>
            <a:ext cx="1238250" cy="1238250"/>
          </a:xfrm>
          <a:prstGeom prst="ellipse">
            <a:avLst/>
          </a:prstGeom>
          <a:solidFill>
            <a:srgbClr val="14243A"/>
          </a:solidFill>
          <a:ln w="19050">
            <a:solidFill>
              <a:srgbClr val="FF7A72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7886700" y="2400300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F3F7FC"/>
                </a:solidFill>
              </a:defRPr>
            </a:defPPr>
          </a:lstStyle>
          <a:p>
            <a:pPr algn="ctr">
              <a:defRPr sz="1275" b="1">
                <a:solidFill>
                  <a:srgbClr val="F3F7FC"/>
                </a:solidFill>
              </a:defRPr>
            </a:pPr>
            <a:r>
              <a:rPr sz="1275" b="1">
                <a:solidFill>
                  <a:srgbClr val="F3F7FC"/>
                </a:solidFill>
              </a:rPr>
              <a:t>函数执行</a:t>
            </a:r>
            <a:endParaRPr sz="1275" b="1">
              <a:solidFill>
                <a:srgbClr val="F3F7FC"/>
              </a:solidFill>
            </a:endParaRPr>
          </a:p>
        </p:txBody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9086850" y="2600325"/>
            <a:ext cx="1000125" cy="0"/>
          </a:xfrm>
          <a:prstGeom prst="line">
            <a:avLst/>
          </a:prstGeom>
          <a:noFill/>
          <a:ln w="19050">
            <a:solidFill>
              <a:srgbClr val="FF7A72"/>
            </a:solidFill>
            <a:prstDash val="solid"/>
          </a:ln>
        </p:spPr>
      </p:sp>
      <p:sp>
        <p:nvSpPr>
          <p:cNvPr id="19" name="等腰三角形 18"/>
          <p:cNvSpPr>
            <a:spLocks noGrp="1"/>
          </p:cNvSpPr>
          <p:nvPr/>
        </p:nvSpPr>
        <p:spPr>
          <a:xfrm rot="5400000">
            <a:off x="10020300" y="2543175"/>
            <a:ext cx="114300" cy="114300"/>
          </a:xfrm>
          <a:prstGeom prst="triangle">
            <a:avLst/>
          </a:prstGeom>
          <a:solidFill>
            <a:srgbClr val="FF7A72"/>
          </a:solidFill>
          <a:ln w="0">
            <a:solidFill>
              <a:srgbClr val="FF7A72"/>
            </a:solidFill>
            <a:prstDash val="solid"/>
          </a:ln>
        </p:spPr>
      </p:sp>
      <p:sp>
        <p:nvSpPr>
          <p:cNvPr id="20" name="椭圆 19"/>
          <p:cNvSpPr>
            <a:spLocks noGrp="1"/>
          </p:cNvSpPr>
          <p:nvPr/>
        </p:nvSpPr>
        <p:spPr>
          <a:xfrm>
            <a:off x="10144125" y="1981200"/>
            <a:ext cx="1238250" cy="1238250"/>
          </a:xfrm>
          <a:prstGeom prst="ellipse">
            <a:avLst/>
          </a:prstGeom>
          <a:solidFill>
            <a:srgbClr val="67D391"/>
          </a:solidFill>
          <a:ln w="19050">
            <a:solidFill>
              <a:srgbClr val="67D391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0220325" y="2400300"/>
            <a:ext cx="1085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75" b="1">
                <a:solidFill>
                  <a:srgbClr val="08111F"/>
                </a:solidFill>
              </a:defRPr>
            </a:defPPr>
          </a:lstStyle>
          <a:p>
            <a:pPr algn="ctr">
              <a:defRPr sz="1275" b="1">
                <a:solidFill>
                  <a:srgbClr val="08111F"/>
                </a:solidFill>
              </a:defRPr>
            </a:pPr>
            <a:r>
              <a:rPr sz="1275" b="1">
                <a:solidFill>
                  <a:srgbClr val="08111F"/>
                </a:solidFill>
              </a:rPr>
              <a:t>结构化观察</a:t>
            </a:r>
            <a:endParaRPr sz="1275" b="1">
              <a:solidFill>
                <a:srgbClr val="08111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028700" y="40195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59A7FF"/>
                </a:solidFill>
              </a:defRPr>
            </a:defPPr>
          </a:lstStyle>
          <a:p>
            <a:pPr algn="l">
              <a:defRPr sz="1350" b="1">
                <a:solidFill>
                  <a:srgbClr val="59A7FF"/>
                </a:solidFill>
              </a:defRPr>
            </a:pPr>
            <a:r>
              <a:rPr sz="1350" b="1">
                <a:solidFill>
                  <a:srgbClr val="59A7FF"/>
                </a:solidFill>
              </a:rPr>
              <a:t>只注册允许的函数</a:t>
            </a:r>
            <a:endParaRPr sz="1350" b="1">
              <a:solidFill>
                <a:srgbClr val="59A7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4000500" y="4019550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TOOLS / TOOL_SPECS 形成能力清单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28700" y="46482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F6C85F"/>
                </a:solidFill>
              </a:defRPr>
            </a:defPPr>
          </a:lstStyle>
          <a:p>
            <a:pPr algn="l">
              <a:defRPr sz="1350" b="1">
                <a:solidFill>
                  <a:srgbClr val="F6C85F"/>
                </a:solidFill>
              </a:defRPr>
            </a:pPr>
            <a:r>
              <a:rPr sz="1350" b="1">
                <a:solidFill>
                  <a:srgbClr val="F6C85F"/>
                </a:solidFill>
              </a:rPr>
              <a:t>不执行模型生成的 Python</a:t>
            </a:r>
            <a:endParaRPr sz="1350" b="1">
              <a:solidFill>
                <a:srgbClr val="F6C85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4000500" y="4648200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表达式走 AST 白名单和复杂度限制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28700" y="52768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FF7A72"/>
                </a:solidFill>
              </a:defRPr>
            </a:defPPr>
          </a:lstStyle>
          <a:p>
            <a:pPr algn="l">
              <a:defRPr sz="1350" b="1">
                <a:solidFill>
                  <a:srgbClr val="FF7A72"/>
                </a:solidFill>
              </a:defRPr>
            </a:pPr>
            <a:r>
              <a:rPr sz="1350" b="1">
                <a:solidFill>
                  <a:srgbClr val="FF7A72"/>
                </a:solidFill>
              </a:rPr>
              <a:t>一次只执行一个调用</a:t>
            </a:r>
            <a:endParaRPr sz="1350" b="1">
              <a:solidFill>
                <a:srgbClr val="FF7A7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000500" y="5276850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批量建议拆成后续轮次逐步验证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9" name="矩形 18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08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验证边界：模型可以审阅，不能推翻程序失败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876300" y="1314450"/>
            <a:ext cx="4429125" cy="3638550"/>
          </a:xfrm>
          <a:prstGeom prst="roundRect">
            <a:avLst>
              <a:gd name="adj" fmla="val 3141"/>
            </a:avLst>
          </a:prstGeom>
          <a:solidFill>
            <a:srgbClr val="14243A"/>
          </a:solidFill>
          <a:ln w="19050">
            <a:solidFill>
              <a:srgbClr val="FF7A72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00150" y="16002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800" b="1">
                <a:solidFill>
                  <a:srgbClr val="FF7A72"/>
                </a:solidFill>
              </a:defRPr>
            </a:defPPr>
          </a:lstStyle>
          <a:p>
            <a:pPr algn="l">
              <a:defRPr sz="1800" b="1">
                <a:solidFill>
                  <a:srgbClr val="FF7A72"/>
                </a:solidFill>
              </a:defRPr>
            </a:pPr>
            <a:r>
              <a:rPr sz="1800" b="1">
                <a:solidFill>
                  <a:srgbClr val="FF7A72"/>
                </a:solidFill>
              </a:rPr>
              <a:t>确定性验证器</a:t>
            </a:r>
            <a:endParaRPr sz="1800" b="1">
              <a:solidFill>
                <a:srgbClr val="FF7A72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200150" y="2152650"/>
            <a:ext cx="361950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F3F7FC"/>
                </a:solidFill>
              </a:defRPr>
            </a:defPPr>
          </a:lstStyle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• 数值根：代回方程检查残差</a:t>
            </a:r>
            <a:endParaRPr sz="1425" b="0">
              <a:solidFill>
                <a:srgbClr val="F3F7FC"/>
              </a:solidFill>
            </a:endParaRPr>
          </a:p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• 导数：有限差分交叉检查</a:t>
            </a:r>
            <a:endParaRPr sz="1425" b="0">
              <a:solidFill>
                <a:srgbClr val="F3F7FC"/>
              </a:solidFill>
            </a:endParaRPr>
          </a:p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• 积分：再次求导检查等价</a:t>
            </a:r>
            <a:endParaRPr sz="1425" b="0">
              <a:solidFill>
                <a:srgbClr val="F3F7FC"/>
              </a:solidFill>
            </a:endParaRPr>
          </a:p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• 插值：节点误差</a:t>
            </a:r>
            <a:endParaRPr sz="1425" b="0">
              <a:solidFill>
                <a:srgbClr val="F3F7FC"/>
              </a:solidFill>
            </a:endParaRPr>
          </a:p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• ODE：初值误差和离散残差</a:t>
            </a:r>
            <a:endParaRPr sz="1425" b="0">
              <a:solidFill>
                <a:srgbClr val="F3F7FC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1200150" y="4333875"/>
            <a:ext cx="1809750" cy="285750"/>
          </a:xfrm>
          <a:prstGeom prst="roundRect">
            <a:avLst>
              <a:gd name="adj" fmla="val 40000"/>
            </a:avLst>
          </a:prstGeom>
          <a:solidFill>
            <a:srgbClr val="FF7A72"/>
          </a:solidFill>
          <a:ln w="0">
            <a:solidFill>
              <a:srgbClr val="FF7A72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200150" y="435292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 algn="ctr">
              <a:defRPr sz="975" b="1">
                <a:solidFill>
                  <a:srgbClr val="FF7A72"/>
                </a:solidFill>
              </a:defRPr>
            </a:defPPr>
          </a:lstStyle>
          <a:p>
            <a:pPr algn="ctr">
              <a:defRPr sz="975" b="1">
                <a:solidFill>
                  <a:srgbClr val="FF7A72"/>
                </a:solidFill>
              </a:defRPr>
            </a:pPr>
            <a:r>
              <a:rPr sz="975" b="1">
                <a:solidFill>
                  <a:schemeClr val="tx1"/>
                </a:solidFill>
              </a:rPr>
              <a:t>program_passed</a:t>
            </a:r>
            <a:endParaRPr sz="975" b="1">
              <a:solidFill>
                <a:schemeClr val="tx1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5429250" y="3143250"/>
            <a:ext cx="1238250" cy="0"/>
          </a:xfrm>
          <a:prstGeom prst="line">
            <a:avLst/>
          </a:prstGeom>
          <a:noFill/>
          <a:ln w="19050">
            <a:solidFill>
              <a:srgbClr val="F6C85F"/>
            </a:solidFill>
            <a:prstDash val="solid"/>
          </a:ln>
        </p:spPr>
      </p:sp>
      <p:sp>
        <p:nvSpPr>
          <p:cNvPr id="10" name="等腰三角形 9"/>
          <p:cNvSpPr>
            <a:spLocks noGrp="1"/>
          </p:cNvSpPr>
          <p:nvPr/>
        </p:nvSpPr>
        <p:spPr>
          <a:xfrm rot="5400000">
            <a:off x="6600825" y="3086100"/>
            <a:ext cx="114300" cy="114300"/>
          </a:xfrm>
          <a:prstGeom prst="triangle">
            <a:avLst/>
          </a:prstGeom>
          <a:solidFill>
            <a:srgbClr val="F6C85F"/>
          </a:solidFill>
          <a:ln w="0">
            <a:solidFill>
              <a:srgbClr val="F6C85F"/>
            </a:solidFill>
            <a:prstDash val="solid"/>
          </a:ln>
        </p:spPr>
      </p:sp>
      <p:sp>
        <p:nvSpPr>
          <p:cNvPr id="11" name="圆角矩形 10"/>
          <p:cNvSpPr>
            <a:spLocks noGrp="1"/>
          </p:cNvSpPr>
          <p:nvPr/>
        </p:nvSpPr>
        <p:spPr>
          <a:xfrm>
            <a:off x="6810375" y="1314450"/>
            <a:ext cx="4476750" cy="3638550"/>
          </a:xfrm>
          <a:prstGeom prst="roundRect">
            <a:avLst>
              <a:gd name="adj" fmla="val 3141"/>
            </a:avLst>
          </a:prstGeom>
          <a:solidFill>
            <a:srgbClr val="101D30"/>
          </a:solidFill>
          <a:ln w="19050">
            <a:solidFill>
              <a:srgbClr val="F6C85F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143750" y="1600200"/>
            <a:ext cx="3333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800" b="1">
                <a:solidFill>
                  <a:srgbClr val="F6C85F"/>
                </a:solidFill>
              </a:defRPr>
            </a:defPPr>
          </a:lstStyle>
          <a:p>
            <a:pPr algn="l">
              <a:defRPr sz="1800" b="1">
                <a:solidFill>
                  <a:srgbClr val="F6C85F"/>
                </a:solidFill>
              </a:defRPr>
            </a:pPr>
            <a:r>
              <a:rPr sz="1800" b="1">
                <a:solidFill>
                  <a:srgbClr val="F6C85F"/>
                </a:solidFill>
              </a:rPr>
              <a:t>Verification Critic</a:t>
            </a:r>
            <a:endParaRPr sz="1800" b="1">
              <a:solidFill>
                <a:srgbClr val="F6C85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143750" y="2190750"/>
            <a:ext cx="3429000" cy="1314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0">
                <a:solidFill>
                  <a:srgbClr val="F3F7FC"/>
                </a:solidFill>
              </a:defRPr>
            </a:defPPr>
          </a:lstStyle>
          <a:p>
            <a:pPr algn="l">
              <a:defRPr sz="1500" b="0">
                <a:solidFill>
                  <a:srgbClr val="F3F7FC"/>
                </a:solidFill>
              </a:defRPr>
            </a:pPr>
            <a:r>
              <a:rPr sz="1500" b="0">
                <a:solidFill>
                  <a:srgbClr val="F3F7FC"/>
                </a:solidFill>
              </a:rPr>
              <a:t>读取工具意图与验证证据</a:t>
            </a:r>
            <a:endParaRPr sz="1500" b="0">
              <a:solidFill>
                <a:srgbClr val="F3F7FC"/>
              </a:solidFill>
            </a:endParaRPr>
          </a:p>
          <a:p>
            <a:pPr algn="l">
              <a:defRPr sz="1500" b="0">
                <a:solidFill>
                  <a:srgbClr val="F3F7FC"/>
                </a:solidFill>
              </a:defRPr>
            </a:pPr>
            <a:r>
              <a:rPr sz="1500" b="0">
                <a:solidFill>
                  <a:srgbClr val="F3F7FC"/>
                </a:solidFill>
              </a:rPr>
              <a:t>判断当前步骤是否可信</a:t>
            </a:r>
            <a:endParaRPr sz="1500" b="0">
              <a:solidFill>
                <a:srgbClr val="F3F7FC"/>
              </a:solidFill>
            </a:endParaRPr>
          </a:p>
          <a:p>
            <a:pPr algn="l">
              <a:defRPr sz="1500" b="0">
                <a:solidFill>
                  <a:srgbClr val="F3F7FC"/>
                </a:solidFill>
              </a:defRPr>
            </a:pPr>
            <a:r>
              <a:rPr sz="1500" b="0">
                <a:solidFill>
                  <a:srgbClr val="F3F7FC"/>
                </a:solidFill>
              </a:rPr>
              <a:t>提出 accept_step 或 retry_step</a:t>
            </a:r>
            <a:endParaRPr sz="1500" b="0">
              <a:solidFill>
                <a:srgbClr val="F3F7FC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43750" y="3781425"/>
            <a:ext cx="171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200" b="1">
                <a:solidFill>
                  <a:srgbClr val="9EB0C7"/>
                </a:solidFill>
              </a:defRPr>
            </a:defPPr>
          </a:lstStyle>
          <a:p>
            <a:pPr algn="l">
              <a:defRPr sz="1200" b="1">
                <a:solidFill>
                  <a:srgbClr val="9EB0C7"/>
                </a:solidFill>
              </a:defRPr>
            </a:pPr>
            <a:r>
              <a:rPr sz="1200" b="1">
                <a:solidFill>
                  <a:srgbClr val="9EB0C7"/>
                </a:solidFill>
              </a:rPr>
              <a:t>最终通过条件</a:t>
            </a:r>
            <a:endParaRPr sz="1200" b="1">
              <a:solidFill>
                <a:srgbClr val="9EB0C7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143750" y="4114800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67D391"/>
                </a:solidFill>
              </a:defRPr>
            </a:defPPr>
          </a:lstStyle>
          <a:p>
            <a:pPr algn="l">
              <a:defRPr sz="1650" b="1">
                <a:solidFill>
                  <a:srgbClr val="67D391"/>
                </a:solidFill>
              </a:defRPr>
            </a:pPr>
            <a:r>
              <a:rPr sz="1650" b="1">
                <a:solidFill>
                  <a:srgbClr val="67D391"/>
                </a:solidFill>
              </a:rPr>
              <a:t>程序通过  且  Agent 批准</a:t>
            </a:r>
            <a:endParaRPr sz="1650" b="1">
              <a:solidFill>
                <a:srgbClr val="67D391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76300" y="5476875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050" b="1">
                <a:solidFill>
                  <a:srgbClr val="4FE0D0"/>
                </a:solidFill>
              </a:defRPr>
            </a:defPPr>
          </a:lstStyle>
          <a:p>
            <a:pPr algn="l">
              <a:defRPr sz="1050" b="1">
                <a:solidFill>
                  <a:srgbClr val="4FE0D0"/>
                </a:solidFill>
              </a:defRPr>
            </a:pPr>
            <a:r>
              <a:rPr sz="1050" b="1">
                <a:solidFill>
                  <a:srgbClr val="4FE0D0"/>
                </a:solidFill>
              </a:rPr>
              <a:t>硬规则</a:t>
            </a:r>
            <a:endParaRPr sz="1050" b="1">
              <a:solidFill>
                <a:srgbClr val="4FE0D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809750" y="5391150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F3F7FC"/>
                </a:solidFill>
              </a:defRPr>
            </a:defPPr>
          </a:lstStyle>
          <a:p>
            <a:pPr algn="l">
              <a:defRPr sz="1575" b="1">
                <a:solidFill>
                  <a:srgbClr val="F3F7FC"/>
                </a:solidFill>
              </a:defRPr>
            </a:pPr>
            <a:r>
              <a:rPr sz="1575" b="1">
                <a:solidFill>
                  <a:srgbClr val="F3F7FC"/>
                </a:solidFill>
              </a:rPr>
              <a:t>evidence.passed = program_passed AND agent_approved</a:t>
            </a:r>
            <a:endParaRPr sz="1575" b="1">
              <a:solidFill>
                <a:srgbClr val="F3F7FC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矩形 31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09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人工审核与恢复：把长任务变成可暂停的事务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952500" y="1581150"/>
            <a:ext cx="1809750" cy="1066800"/>
          </a:xfrm>
          <a:prstGeom prst="roundRect">
            <a:avLst>
              <a:gd name="adj" fmla="val 10714"/>
            </a:avLst>
          </a:prstGeom>
          <a:solidFill>
            <a:srgbClr val="14243A"/>
          </a:solidFill>
          <a:ln w="19050">
            <a:solidFill>
              <a:srgbClr val="59A7F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04900" y="17907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00" b="1">
                <a:solidFill>
                  <a:srgbClr val="59A7FF"/>
                </a:solidFill>
              </a:defRPr>
            </a:defPPr>
          </a:lstStyle>
          <a:p>
            <a:pPr algn="ctr">
              <a:defRPr sz="1500" b="1">
                <a:solidFill>
                  <a:srgbClr val="59A7FF"/>
                </a:solidFill>
              </a:defRPr>
            </a:pPr>
            <a:r>
              <a:rPr sz="1500" b="1">
                <a:solidFill>
                  <a:srgbClr val="59A7FF"/>
                </a:solidFill>
              </a:rPr>
              <a:t>准备动作</a:t>
            </a:r>
            <a:endParaRPr sz="1500" b="1">
              <a:solidFill>
                <a:srgbClr val="59A7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04900" y="21907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125" b="0">
                <a:solidFill>
                  <a:srgbClr val="F3F7FC"/>
                </a:solidFill>
              </a:defRPr>
            </a:defPPr>
          </a:lstStyle>
          <a:p>
            <a:pPr algn="ctr">
              <a:defRPr sz="1125" b="0">
                <a:solidFill>
                  <a:srgbClr val="F3F7FC"/>
                </a:solidFill>
              </a:defRPr>
            </a:pPr>
            <a:r>
              <a:rPr sz="1125" b="0">
                <a:solidFill>
                  <a:srgbClr val="F3F7FC"/>
                </a:solidFill>
              </a:rPr>
              <a:t>pending_action</a:t>
            </a:r>
            <a:endParaRPr sz="1125" b="0">
              <a:solidFill>
                <a:srgbClr val="F3F7FC"/>
              </a:solidFill>
            </a:endParaRP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2800350" y="2114550"/>
            <a:ext cx="571500" cy="0"/>
          </a:xfrm>
          <a:prstGeom prst="line">
            <a:avLst/>
          </a:prstGeom>
          <a:noFill/>
          <a:ln w="19050">
            <a:solidFill>
              <a:srgbClr val="59A7FF"/>
            </a:solidFill>
            <a:prstDash val="solid"/>
          </a:ln>
        </p:spPr>
      </p:sp>
      <p:sp>
        <p:nvSpPr>
          <p:cNvPr id="8" name="等腰三角形 7"/>
          <p:cNvSpPr>
            <a:spLocks noGrp="1"/>
          </p:cNvSpPr>
          <p:nvPr/>
        </p:nvSpPr>
        <p:spPr>
          <a:xfrm rot="5400000">
            <a:off x="3305175" y="2057400"/>
            <a:ext cx="114300" cy="114300"/>
          </a:xfrm>
          <a:prstGeom prst="triangle">
            <a:avLst/>
          </a:prstGeom>
          <a:solidFill>
            <a:srgbClr val="59A7FF"/>
          </a:solidFill>
          <a:ln w="0">
            <a:solidFill>
              <a:srgbClr val="59A7FF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3429000" y="1581150"/>
            <a:ext cx="1809750" cy="1066800"/>
          </a:xfrm>
          <a:prstGeom prst="roundRect">
            <a:avLst>
              <a:gd name="adj" fmla="val 10714"/>
            </a:avLst>
          </a:prstGeom>
          <a:solidFill>
            <a:srgbClr val="14243A"/>
          </a:solidFill>
          <a:ln w="19050">
            <a:solidFill>
              <a:srgbClr val="F6C85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581400" y="17907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00" b="1">
                <a:solidFill>
                  <a:srgbClr val="F6C85F"/>
                </a:solidFill>
              </a:defRPr>
            </a:defPPr>
          </a:lstStyle>
          <a:p>
            <a:pPr algn="ctr">
              <a:defRPr sz="1500" b="1">
                <a:solidFill>
                  <a:srgbClr val="F6C85F"/>
                </a:solidFill>
              </a:defRPr>
            </a:pPr>
            <a:r>
              <a:rPr sz="1500" b="1">
                <a:solidFill>
                  <a:srgbClr val="F6C85F"/>
                </a:solidFill>
              </a:rPr>
              <a:t>安全暂停</a:t>
            </a:r>
            <a:endParaRPr sz="1500" b="1">
              <a:solidFill>
                <a:srgbClr val="F6C85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81400" y="21907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125" b="0">
                <a:solidFill>
                  <a:srgbClr val="F3F7FC"/>
                </a:solidFill>
              </a:defRPr>
            </a:defPPr>
          </a:lstStyle>
          <a:p>
            <a:pPr algn="ctr">
              <a:defRPr sz="1125" b="0">
                <a:solidFill>
                  <a:srgbClr val="F3F7FC"/>
                </a:solidFill>
              </a:defRPr>
            </a:pPr>
            <a:r>
              <a:rPr sz="1125" b="0">
                <a:solidFill>
                  <a:srgbClr val="F3F7FC"/>
                </a:solidFill>
              </a:rPr>
              <a:t>interrupt</a:t>
            </a:r>
            <a:endParaRPr sz="1125" b="0">
              <a:solidFill>
                <a:srgbClr val="F3F7FC"/>
              </a:solidFill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5276850" y="2114550"/>
            <a:ext cx="571500" cy="0"/>
          </a:xfrm>
          <a:prstGeom prst="line">
            <a:avLst/>
          </a:prstGeom>
          <a:noFill/>
          <a:ln w="19050">
            <a:solidFill>
              <a:srgbClr val="F6C85F"/>
            </a:solidFill>
            <a:prstDash val="solid"/>
          </a:ln>
        </p:spPr>
      </p:sp>
      <p:sp>
        <p:nvSpPr>
          <p:cNvPr id="13" name="等腰三角形 12"/>
          <p:cNvSpPr>
            <a:spLocks noGrp="1"/>
          </p:cNvSpPr>
          <p:nvPr/>
        </p:nvSpPr>
        <p:spPr>
          <a:xfrm rot="5400000">
            <a:off x="5781675" y="2057400"/>
            <a:ext cx="114300" cy="114300"/>
          </a:xfrm>
          <a:prstGeom prst="triangle">
            <a:avLst/>
          </a:prstGeom>
          <a:solidFill>
            <a:srgbClr val="F6C85F"/>
          </a:solidFill>
          <a:ln w="0">
            <a:solidFill>
              <a:srgbClr val="F6C85F"/>
            </a:solidFill>
            <a:prstDash val="solid"/>
          </a:ln>
        </p:spPr>
      </p:sp>
      <p:sp>
        <p:nvSpPr>
          <p:cNvPr id="14" name="圆角矩形 13"/>
          <p:cNvSpPr>
            <a:spLocks noGrp="1"/>
          </p:cNvSpPr>
          <p:nvPr/>
        </p:nvSpPr>
        <p:spPr>
          <a:xfrm>
            <a:off x="5905500" y="1581150"/>
            <a:ext cx="1809750" cy="1066800"/>
          </a:xfrm>
          <a:prstGeom prst="roundRect">
            <a:avLst>
              <a:gd name="adj" fmla="val 10714"/>
            </a:avLst>
          </a:prstGeom>
          <a:solidFill>
            <a:srgbClr val="14243A"/>
          </a:solidFill>
          <a:ln w="19050">
            <a:solidFill>
              <a:srgbClr val="FF7A72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57900" y="17907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00" b="1">
                <a:solidFill>
                  <a:srgbClr val="FF7A72"/>
                </a:solidFill>
              </a:defRPr>
            </a:defPPr>
          </a:lstStyle>
          <a:p>
            <a:pPr algn="ctr">
              <a:defRPr sz="1500" b="1">
                <a:solidFill>
                  <a:srgbClr val="FF7A72"/>
                </a:solidFill>
              </a:defRPr>
            </a:pPr>
            <a:r>
              <a:rPr sz="1500" b="1">
                <a:solidFill>
                  <a:srgbClr val="FF7A72"/>
                </a:solidFill>
              </a:rPr>
              <a:t>人工反馈</a:t>
            </a:r>
            <a:endParaRPr sz="1500" b="1">
              <a:solidFill>
                <a:srgbClr val="FF7A72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057900" y="21907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125" b="0">
                <a:solidFill>
                  <a:srgbClr val="F3F7FC"/>
                </a:solidFill>
              </a:defRPr>
            </a:defPPr>
          </a:lstStyle>
          <a:p>
            <a:pPr algn="ctr">
              <a:defRPr sz="1125" b="0">
                <a:solidFill>
                  <a:srgbClr val="F3F7FC"/>
                </a:solidFill>
              </a:defRPr>
            </a:pPr>
            <a:r>
              <a:rPr sz="1125" b="0">
                <a:solidFill>
                  <a:srgbClr val="F3F7FC"/>
                </a:solidFill>
              </a:rPr>
              <a:t>approve / modify / reject</a:t>
            </a:r>
            <a:endParaRPr sz="1125" b="0">
              <a:solidFill>
                <a:srgbClr val="F3F7FC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7753350" y="2114550"/>
            <a:ext cx="1047750" cy="0"/>
          </a:xfrm>
          <a:prstGeom prst="line">
            <a:avLst/>
          </a:prstGeom>
          <a:noFill/>
          <a:ln w="19050">
            <a:solidFill>
              <a:srgbClr val="FF7A72"/>
            </a:solidFill>
            <a:prstDash val="solid"/>
          </a:ln>
        </p:spPr>
      </p:sp>
      <p:sp>
        <p:nvSpPr>
          <p:cNvPr id="18" name="等腰三角形 17"/>
          <p:cNvSpPr>
            <a:spLocks noGrp="1"/>
          </p:cNvSpPr>
          <p:nvPr/>
        </p:nvSpPr>
        <p:spPr>
          <a:xfrm rot="5400000">
            <a:off x="8734425" y="2057400"/>
            <a:ext cx="114300" cy="114300"/>
          </a:xfrm>
          <a:prstGeom prst="triangle">
            <a:avLst/>
          </a:prstGeom>
          <a:solidFill>
            <a:srgbClr val="FF7A72"/>
          </a:solidFill>
          <a:ln w="0">
            <a:solidFill>
              <a:srgbClr val="FF7A72"/>
            </a:solidFill>
            <a:prstDash val="solid"/>
          </a:ln>
        </p:spPr>
      </p:sp>
      <p:sp>
        <p:nvSpPr>
          <p:cNvPr id="19" name="圆角矩形 18"/>
          <p:cNvSpPr>
            <a:spLocks noGrp="1"/>
          </p:cNvSpPr>
          <p:nvPr/>
        </p:nvSpPr>
        <p:spPr>
          <a:xfrm>
            <a:off x="8858250" y="1581150"/>
            <a:ext cx="1809750" cy="1066800"/>
          </a:xfrm>
          <a:prstGeom prst="roundRect">
            <a:avLst>
              <a:gd name="adj" fmla="val 10714"/>
            </a:avLst>
          </a:prstGeom>
          <a:solidFill>
            <a:srgbClr val="14243A"/>
          </a:solidFill>
          <a:ln w="19050">
            <a:solidFill>
              <a:srgbClr val="67D391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010650" y="179070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500" b="1">
                <a:solidFill>
                  <a:srgbClr val="67D391"/>
                </a:solidFill>
              </a:defRPr>
            </a:defPPr>
          </a:lstStyle>
          <a:p>
            <a:pPr algn="ctr">
              <a:defRPr sz="1500" b="1">
                <a:solidFill>
                  <a:srgbClr val="67D391"/>
                </a:solidFill>
              </a:defRPr>
            </a:pPr>
            <a:r>
              <a:rPr sz="1500" b="1">
                <a:solidFill>
                  <a:srgbClr val="67D391"/>
                </a:solidFill>
              </a:rPr>
              <a:t>原线程恢复</a:t>
            </a:r>
            <a:endParaRPr sz="1500" b="1">
              <a:solidFill>
                <a:srgbClr val="67D391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9010650" y="2190750"/>
            <a:ext cx="1504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125" b="0">
                <a:solidFill>
                  <a:srgbClr val="F3F7FC"/>
                </a:solidFill>
              </a:defRPr>
            </a:defPPr>
          </a:lstStyle>
          <a:p>
            <a:pPr algn="ctr">
              <a:defRPr sz="1125" b="0">
                <a:solidFill>
                  <a:srgbClr val="F3F7FC"/>
                </a:solidFill>
              </a:defRPr>
            </a:pPr>
            <a:r>
              <a:rPr sz="1125" b="0">
                <a:solidFill>
                  <a:srgbClr val="F3F7FC"/>
                </a:solidFill>
              </a:rPr>
              <a:t>Command(resume)</a:t>
            </a:r>
            <a:endParaRPr sz="1125" b="0">
              <a:solidFill>
                <a:srgbClr val="F3F7FC"/>
              </a:solidFill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952500" y="3448050"/>
            <a:ext cx="9715500" cy="1714500"/>
          </a:xfrm>
          <a:prstGeom prst="roundRect">
            <a:avLst>
              <a:gd name="adj" fmla="val 6667"/>
            </a:avLst>
          </a:prstGeom>
          <a:solidFill>
            <a:srgbClr val="101D30"/>
          </a:solidFill>
          <a:ln w="9525">
            <a:solidFill>
              <a:srgbClr val="29415E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1257300" y="371475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75" b="1">
                <a:solidFill>
                  <a:srgbClr val="4FE0D0"/>
                </a:solidFill>
              </a:defRPr>
            </a:defPPr>
          </a:lstStyle>
          <a:p>
            <a:pPr algn="l">
              <a:defRPr sz="1575" b="1">
                <a:solidFill>
                  <a:srgbClr val="4FE0D0"/>
                </a:solidFill>
              </a:defRPr>
            </a:pPr>
            <a:r>
              <a:rPr sz="1575" b="1">
                <a:solidFill>
                  <a:srgbClr val="4FE0D0"/>
                </a:solidFill>
              </a:rPr>
              <a:t>恢复所需的三种状态</a:t>
            </a:r>
            <a:endParaRPr sz="1575" b="1">
              <a:solidFill>
                <a:srgbClr val="4FE0D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257300" y="4305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F3F7FC"/>
                </a:solidFill>
              </a:defRPr>
            </a:defPPr>
          </a:lstStyle>
          <a:p>
            <a:pPr algn="l">
              <a:defRPr sz="1350" b="1">
                <a:solidFill>
                  <a:srgbClr val="F3F7FC"/>
                </a:solidFill>
              </a:defRPr>
            </a:pPr>
            <a:r>
              <a:rPr sz="1350" b="1">
                <a:solidFill>
                  <a:srgbClr val="F3F7FC"/>
                </a:solidFill>
              </a:rPr>
              <a:t>LangGraph checkpointer</a:t>
            </a:r>
            <a:endParaRPr sz="1350" b="1">
              <a:solidFill>
                <a:srgbClr val="F3F7FC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257300" y="46291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9EB0C7"/>
                </a:solidFill>
              </a:defRPr>
            </a:defPPr>
          </a:lstStyle>
          <a:p>
            <a:pPr algn="l">
              <a:defRPr sz="1125" b="0">
                <a:solidFill>
                  <a:srgbClr val="9EB0C7"/>
                </a:solidFill>
              </a:defRPr>
            </a:pPr>
            <a:r>
              <a:rPr sz="1125" b="0">
                <a:solidFill>
                  <a:srgbClr val="9EB0C7"/>
                </a:solidFill>
              </a:rPr>
              <a:t>运行时中断点</a:t>
            </a:r>
            <a:endParaRPr sz="1125" b="0">
              <a:solidFill>
                <a:srgbClr val="9EB0C7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4572000" y="430530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F3F7FC"/>
                </a:solidFill>
              </a:defRPr>
            </a:defPPr>
          </a:lstStyle>
          <a:p>
            <a:pPr algn="l">
              <a:defRPr sz="1350" b="1">
                <a:solidFill>
                  <a:srgbClr val="F3F7FC"/>
                </a:solidFill>
              </a:defRPr>
            </a:pPr>
            <a:r>
              <a:rPr sz="1350" b="1">
                <a:solidFill>
                  <a:srgbClr val="F3F7FC"/>
                </a:solidFill>
              </a:rPr>
              <a:t>SQLite 任务快照</a:t>
            </a:r>
            <a:endParaRPr sz="1350" b="1">
              <a:solidFill>
                <a:srgbClr val="F3F7FC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4572000" y="46291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9EB0C7"/>
                </a:solidFill>
              </a:defRPr>
            </a:defPPr>
          </a:lstStyle>
          <a:p>
            <a:pPr algn="l">
              <a:defRPr sz="1125" b="0">
                <a:solidFill>
                  <a:srgbClr val="9EB0C7"/>
                </a:solidFill>
              </a:defRPr>
            </a:pPr>
            <a:r>
              <a:rPr sz="1125" b="0">
                <a:solidFill>
                  <a:srgbClr val="9EB0C7"/>
                </a:solidFill>
              </a:rPr>
              <a:t>刷新后恢复页面</a:t>
            </a:r>
            <a:endParaRPr sz="1125" b="0">
              <a:solidFill>
                <a:srgbClr val="9EB0C7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7810500" y="43053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F3F7FC"/>
                </a:solidFill>
              </a:defRPr>
            </a:defPPr>
          </a:lstStyle>
          <a:p>
            <a:pPr algn="l">
              <a:defRPr sz="1350" b="1">
                <a:solidFill>
                  <a:srgbClr val="F3F7FC"/>
                </a:solidFill>
              </a:defRPr>
            </a:pPr>
            <a:r>
              <a:rPr sz="1350" b="1">
                <a:solidFill>
                  <a:srgbClr val="F3F7FC"/>
                </a:solidFill>
              </a:rPr>
              <a:t>有序事件历史</a:t>
            </a:r>
            <a:endParaRPr sz="1350" b="1">
              <a:solidFill>
                <a:srgbClr val="F3F7FC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7810500" y="4629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125" b="0">
                <a:solidFill>
                  <a:srgbClr val="9EB0C7"/>
                </a:solidFill>
              </a:defRPr>
            </a:defPPr>
          </a:lstStyle>
          <a:p>
            <a:pPr algn="l">
              <a:defRPr sz="1125" b="0">
                <a:solidFill>
                  <a:srgbClr val="9EB0C7"/>
                </a:solidFill>
              </a:defRPr>
            </a:pPr>
            <a:r>
              <a:rPr sz="1125" b="0">
                <a:solidFill>
                  <a:srgbClr val="9EB0C7"/>
                </a:solidFill>
              </a:rPr>
              <a:t>after=N 增量续传</a:t>
            </a:r>
            <a:endParaRPr sz="1125" b="0">
              <a:solidFill>
                <a:srgbClr val="9EB0C7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矩形 36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10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可观察性：事件流就是 Agent 的公开执行轨迹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114425" y="2333625"/>
            <a:ext cx="247650" cy="247650"/>
          </a:xfrm>
          <a:prstGeom prst="ellipse">
            <a:avLst/>
          </a:prstGeom>
          <a:solidFill>
            <a:srgbClr val="59A7FF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5" name="直接连接符 4"/>
          <p:cNvSpPr>
            <a:spLocks noGrp="1"/>
          </p:cNvSpPr>
          <p:nvPr/>
        </p:nvSpPr>
        <p:spPr>
          <a:xfrm>
            <a:off x="1362075" y="2457450"/>
            <a:ext cx="1390650" cy="0"/>
          </a:xfrm>
          <a:prstGeom prst="line">
            <a:avLst/>
          </a:prstGeom>
          <a:noFill/>
          <a:ln w="28575">
            <a:solidFill>
              <a:srgbClr val="29415E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1885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59A7FF"/>
                </a:solidFill>
              </a:defRPr>
            </a:defPPr>
          </a:lstStyle>
          <a:p>
            <a:pPr algn="ctr">
              <a:defRPr sz="1350" b="1">
                <a:solidFill>
                  <a:srgbClr val="59A7FF"/>
                </a:solidFill>
              </a:defRPr>
            </a:pPr>
            <a:r>
              <a:rPr sz="1350" b="1">
                <a:solidFill>
                  <a:srgbClr val="59A7FF"/>
                </a:solidFill>
              </a:rPr>
              <a:t>1</a:t>
            </a:r>
            <a:endParaRPr sz="1350" b="1">
              <a:solidFill>
                <a:srgbClr val="59A7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27813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975" b="1">
                <a:solidFill>
                  <a:srgbClr val="F3F7FC"/>
                </a:solidFill>
              </a:defRPr>
            </a:defPPr>
          </a:lstStyle>
          <a:p>
            <a:pPr algn="ctr">
              <a:defRPr sz="975" b="1">
                <a:solidFill>
                  <a:srgbClr val="F3F7FC"/>
                </a:solidFill>
              </a:defRPr>
            </a:pPr>
            <a:r>
              <a:rPr sz="975" b="1">
                <a:solidFill>
                  <a:srgbClr val="F3F7FC"/>
                </a:solidFill>
              </a:rPr>
              <a:t>model_started</a:t>
            </a:r>
            <a:endParaRPr sz="975" b="1">
              <a:solidFill>
                <a:srgbClr val="F3F7FC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2752725" y="2333625"/>
            <a:ext cx="247650" cy="247650"/>
          </a:xfrm>
          <a:prstGeom prst="ellipse">
            <a:avLst/>
          </a:prstGeom>
          <a:solidFill>
            <a:srgbClr val="4FE0D0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3000375" y="2457450"/>
            <a:ext cx="1390650" cy="0"/>
          </a:xfrm>
          <a:prstGeom prst="line">
            <a:avLst/>
          </a:prstGeom>
          <a:noFill/>
          <a:ln w="28575">
            <a:solidFill>
              <a:srgbClr val="29415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2705100" y="1885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4FE0D0"/>
                </a:solidFill>
              </a:defRPr>
            </a:defPPr>
          </a:lstStyle>
          <a:p>
            <a:pPr algn="ctr">
              <a:defRPr sz="1350" b="1">
                <a:solidFill>
                  <a:srgbClr val="4FE0D0"/>
                </a:solidFill>
              </a:defRPr>
            </a:pPr>
            <a:r>
              <a:rPr sz="1350" b="1">
                <a:solidFill>
                  <a:srgbClr val="4FE0D0"/>
                </a:solidFill>
              </a:rPr>
              <a:t>2</a:t>
            </a:r>
            <a:endParaRPr sz="1350" b="1">
              <a:solidFill>
                <a:srgbClr val="4FE0D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228850" y="27813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975" b="1">
                <a:solidFill>
                  <a:srgbClr val="F3F7FC"/>
                </a:solidFill>
              </a:defRPr>
            </a:defPPr>
          </a:lstStyle>
          <a:p>
            <a:pPr algn="ctr">
              <a:defRPr sz="975" b="1">
                <a:solidFill>
                  <a:srgbClr val="F3F7FC"/>
                </a:solidFill>
              </a:defRPr>
            </a:pPr>
            <a:r>
              <a:rPr sz="975" b="1">
                <a:solidFill>
                  <a:srgbClr val="F3F7FC"/>
                </a:solidFill>
              </a:rPr>
              <a:t>agent_handoff</a:t>
            </a:r>
            <a:endParaRPr sz="975" b="1">
              <a:solidFill>
                <a:srgbClr val="F3F7FC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4391025" y="2333625"/>
            <a:ext cx="247650" cy="247650"/>
          </a:xfrm>
          <a:prstGeom prst="ellipse">
            <a:avLst/>
          </a:prstGeom>
          <a:solidFill>
            <a:srgbClr val="F6C85F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638675" y="2457450"/>
            <a:ext cx="1390650" cy="0"/>
          </a:xfrm>
          <a:prstGeom prst="line">
            <a:avLst/>
          </a:prstGeom>
          <a:noFill/>
          <a:ln w="28575">
            <a:solidFill>
              <a:srgbClr val="29415E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343400" y="1885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F6C85F"/>
                </a:solidFill>
              </a:defRPr>
            </a:defPPr>
          </a:lstStyle>
          <a:p>
            <a:pPr algn="ctr">
              <a:defRPr sz="1350" b="1">
                <a:solidFill>
                  <a:srgbClr val="F6C85F"/>
                </a:solidFill>
              </a:defRPr>
            </a:pPr>
            <a:r>
              <a:rPr sz="1350" b="1">
                <a:solidFill>
                  <a:srgbClr val="F6C85F"/>
                </a:solidFill>
              </a:rPr>
              <a:t>3</a:t>
            </a:r>
            <a:endParaRPr sz="1350" b="1">
              <a:solidFill>
                <a:srgbClr val="F6C85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867150" y="27813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975" b="1">
                <a:solidFill>
                  <a:srgbClr val="F3F7FC"/>
                </a:solidFill>
              </a:defRPr>
            </a:defPPr>
          </a:lstStyle>
          <a:p>
            <a:pPr algn="ctr">
              <a:defRPr sz="975" b="1">
                <a:solidFill>
                  <a:srgbClr val="F3F7FC"/>
                </a:solidFill>
              </a:defRPr>
            </a:pPr>
            <a:r>
              <a:rPr sz="975" b="1">
                <a:solidFill>
                  <a:srgbClr val="F3F7FC"/>
                </a:solidFill>
              </a:rPr>
              <a:t>tool_started</a:t>
            </a:r>
            <a:endParaRPr sz="975" b="1">
              <a:solidFill>
                <a:srgbClr val="F3F7FC"/>
              </a:solidFill>
            </a:endParaRPr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>
            <a:off x="6029325" y="2333625"/>
            <a:ext cx="247650" cy="247650"/>
          </a:xfrm>
          <a:prstGeom prst="ellipse">
            <a:avLst/>
          </a:prstGeom>
          <a:solidFill>
            <a:srgbClr val="F6C85F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76975" y="2457450"/>
            <a:ext cx="1390650" cy="0"/>
          </a:xfrm>
          <a:prstGeom prst="line">
            <a:avLst/>
          </a:prstGeom>
          <a:noFill/>
          <a:ln w="28575">
            <a:solidFill>
              <a:srgbClr val="29415E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981700" y="1885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F6C85F"/>
                </a:solidFill>
              </a:defRPr>
            </a:defPPr>
          </a:lstStyle>
          <a:p>
            <a:pPr algn="ctr">
              <a:defRPr sz="1350" b="1">
                <a:solidFill>
                  <a:srgbClr val="F6C85F"/>
                </a:solidFill>
              </a:defRPr>
            </a:pPr>
            <a:r>
              <a:rPr sz="1350" b="1">
                <a:solidFill>
                  <a:srgbClr val="F6C85F"/>
                </a:solidFill>
              </a:rPr>
              <a:t>4</a:t>
            </a:r>
            <a:endParaRPr sz="1350" b="1">
              <a:solidFill>
                <a:srgbClr val="F6C85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505450" y="27813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975" b="1">
                <a:solidFill>
                  <a:srgbClr val="F3F7FC"/>
                </a:solidFill>
              </a:defRPr>
            </a:defPPr>
          </a:lstStyle>
          <a:p>
            <a:pPr algn="ctr">
              <a:defRPr sz="975" b="1">
                <a:solidFill>
                  <a:srgbClr val="F3F7FC"/>
                </a:solidFill>
              </a:defRPr>
            </a:pPr>
            <a:r>
              <a:rPr sz="975" b="1">
                <a:solidFill>
                  <a:srgbClr val="F3F7FC"/>
                </a:solidFill>
              </a:rPr>
              <a:t>tool_completed</a:t>
            </a:r>
            <a:endParaRPr sz="975" b="1">
              <a:solidFill>
                <a:srgbClr val="F3F7FC"/>
              </a:solidFill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7667625" y="2333625"/>
            <a:ext cx="247650" cy="247650"/>
          </a:xfrm>
          <a:prstGeom prst="ellipse">
            <a:avLst/>
          </a:prstGeom>
          <a:solidFill>
            <a:srgbClr val="FF7A72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7915275" y="2457450"/>
            <a:ext cx="1390650" cy="0"/>
          </a:xfrm>
          <a:prstGeom prst="line">
            <a:avLst/>
          </a:prstGeom>
          <a:noFill/>
          <a:ln w="28575">
            <a:solidFill>
              <a:srgbClr val="29415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620000" y="1885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FF7A72"/>
                </a:solidFill>
              </a:defRPr>
            </a:defPPr>
          </a:lstStyle>
          <a:p>
            <a:pPr algn="ctr">
              <a:defRPr sz="1350" b="1">
                <a:solidFill>
                  <a:srgbClr val="FF7A72"/>
                </a:solidFill>
              </a:defRPr>
            </a:pPr>
            <a:r>
              <a:rPr sz="1350" b="1">
                <a:solidFill>
                  <a:srgbClr val="FF7A72"/>
                </a:solidFill>
              </a:rPr>
              <a:t>5</a:t>
            </a:r>
            <a:endParaRPr sz="1350" b="1">
              <a:solidFill>
                <a:srgbClr val="FF7A72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143750" y="27813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975" b="1">
                <a:solidFill>
                  <a:srgbClr val="F3F7FC"/>
                </a:solidFill>
              </a:defRPr>
            </a:defPPr>
          </a:lstStyle>
          <a:p>
            <a:pPr algn="ctr">
              <a:defRPr sz="975" b="1">
                <a:solidFill>
                  <a:srgbClr val="F3F7FC"/>
                </a:solidFill>
              </a:defRPr>
            </a:pPr>
            <a:r>
              <a:rPr sz="975" b="1">
                <a:solidFill>
                  <a:srgbClr val="F3F7FC"/>
                </a:solidFill>
              </a:rPr>
              <a:t>verification_completed</a:t>
            </a:r>
            <a:endParaRPr sz="975" b="1">
              <a:solidFill>
                <a:srgbClr val="F3F7FC"/>
              </a:solidFill>
            </a:endParaRPr>
          </a:p>
        </p:txBody>
      </p:sp>
      <p:sp>
        <p:nvSpPr>
          <p:cNvPr id="24" name="椭圆 23"/>
          <p:cNvSpPr>
            <a:spLocks noGrp="1"/>
          </p:cNvSpPr>
          <p:nvPr/>
        </p:nvSpPr>
        <p:spPr>
          <a:xfrm>
            <a:off x="9305925" y="2333625"/>
            <a:ext cx="247650" cy="247650"/>
          </a:xfrm>
          <a:prstGeom prst="ellipse">
            <a:avLst/>
          </a:prstGeom>
          <a:solidFill>
            <a:srgbClr val="67D391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9553575" y="2457450"/>
            <a:ext cx="1390650" cy="0"/>
          </a:xfrm>
          <a:prstGeom prst="line">
            <a:avLst/>
          </a:prstGeom>
          <a:noFill/>
          <a:ln w="28575">
            <a:solidFill>
              <a:srgbClr val="29415E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258300" y="1885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67D391"/>
                </a:solidFill>
              </a:defRPr>
            </a:defPPr>
          </a:lstStyle>
          <a:p>
            <a:pPr algn="ctr">
              <a:defRPr sz="1350" b="1">
                <a:solidFill>
                  <a:srgbClr val="67D391"/>
                </a:solidFill>
              </a:defRPr>
            </a:pPr>
            <a:r>
              <a:rPr sz="1350" b="1">
                <a:solidFill>
                  <a:srgbClr val="67D391"/>
                </a:solidFill>
              </a:rPr>
              <a:t>6</a:t>
            </a:r>
            <a:endParaRPr sz="1350" b="1">
              <a:solidFill>
                <a:srgbClr val="67D391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782050" y="27813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975" b="1">
                <a:solidFill>
                  <a:srgbClr val="F3F7FC"/>
                </a:solidFill>
              </a:defRPr>
            </a:defPPr>
          </a:lstStyle>
          <a:p>
            <a:pPr algn="ctr">
              <a:defRPr sz="975" b="1">
                <a:solidFill>
                  <a:srgbClr val="F3F7FC"/>
                </a:solidFill>
              </a:defRPr>
            </a:pPr>
            <a:r>
              <a:rPr sz="975" b="1">
                <a:solidFill>
                  <a:srgbClr val="F3F7FC"/>
                </a:solidFill>
              </a:rPr>
              <a:t>artifact_created</a:t>
            </a:r>
            <a:endParaRPr sz="975" b="1">
              <a:solidFill>
                <a:srgbClr val="F3F7FC"/>
              </a:solidFill>
            </a:endParaRPr>
          </a:p>
        </p:txBody>
      </p:sp>
      <p:sp>
        <p:nvSpPr>
          <p:cNvPr id="28" name="椭圆 27"/>
          <p:cNvSpPr>
            <a:spLocks noGrp="1"/>
          </p:cNvSpPr>
          <p:nvPr/>
        </p:nvSpPr>
        <p:spPr>
          <a:xfrm>
            <a:off x="10944225" y="2333625"/>
            <a:ext cx="247650" cy="247650"/>
          </a:xfrm>
          <a:prstGeom prst="ellipse">
            <a:avLst/>
          </a:prstGeom>
          <a:solidFill>
            <a:srgbClr val="67D391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10896600" y="1885950"/>
            <a:ext cx="342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350" b="1">
                <a:solidFill>
                  <a:srgbClr val="67D391"/>
                </a:solidFill>
              </a:defRPr>
            </a:defPPr>
          </a:lstStyle>
          <a:p>
            <a:pPr algn="ctr">
              <a:defRPr sz="1350" b="1">
                <a:solidFill>
                  <a:srgbClr val="67D391"/>
                </a:solidFill>
              </a:defRPr>
            </a:pPr>
            <a:r>
              <a:rPr sz="1350" b="1">
                <a:solidFill>
                  <a:srgbClr val="67D391"/>
                </a:solidFill>
              </a:rPr>
              <a:t>7</a:t>
            </a:r>
            <a:endParaRPr sz="1350" b="1">
              <a:solidFill>
                <a:srgbClr val="67D391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0420350" y="2781300"/>
            <a:ext cx="1295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975" b="1">
                <a:solidFill>
                  <a:srgbClr val="F3F7FC"/>
                </a:solidFill>
              </a:defRPr>
            </a:defPPr>
          </a:lstStyle>
          <a:p>
            <a:pPr algn="ctr">
              <a:defRPr sz="975" b="1">
                <a:solidFill>
                  <a:srgbClr val="F3F7FC"/>
                </a:solidFill>
              </a:defRPr>
            </a:pPr>
            <a:r>
              <a:rPr sz="975" b="1">
                <a:solidFill>
                  <a:srgbClr val="F3F7FC"/>
                </a:solidFill>
              </a:rPr>
              <a:t>workflow_completed</a:t>
            </a:r>
            <a:endParaRPr sz="975" b="1">
              <a:solidFill>
                <a:srgbClr val="F3F7FC"/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76300" y="3905250"/>
            <a:ext cx="10439400" cy="1381125"/>
          </a:xfrm>
          <a:prstGeom prst="roundRect">
            <a:avLst>
              <a:gd name="adj" fmla="val 8276"/>
            </a:avLst>
          </a:prstGeom>
          <a:solidFill>
            <a:srgbClr val="14243A"/>
          </a:solidFill>
          <a:ln w="14288">
            <a:solidFill>
              <a:srgbClr val="59A7FF"/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1162050" y="41719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1">
                <a:solidFill>
                  <a:srgbClr val="59A7FF"/>
                </a:solidFill>
              </a:defRPr>
            </a:defPPr>
          </a:lstStyle>
          <a:p>
            <a:pPr algn="l">
              <a:defRPr sz="1350" b="1">
                <a:solidFill>
                  <a:srgbClr val="59A7FF"/>
                </a:solidFill>
              </a:defRPr>
            </a:pPr>
            <a:r>
              <a:rPr sz="1350" b="1">
                <a:solidFill>
                  <a:srgbClr val="59A7FF"/>
                </a:solidFill>
              </a:rPr>
              <a:t>每条事件</a:t>
            </a:r>
            <a:endParaRPr sz="1350" b="1">
              <a:solidFill>
                <a:srgbClr val="59A7FF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571750" y="4143375"/>
            <a:ext cx="790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sequence · timestamp · node · title · summary · payload · duration_ms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1162050" y="4695825"/>
            <a:ext cx="895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1">
                <a:solidFill>
                  <a:srgbClr val="4FE0D0"/>
                </a:solidFill>
              </a:defRPr>
            </a:defPPr>
          </a:lstStyle>
          <a:p>
            <a:pPr algn="l">
              <a:defRPr sz="1425" b="1">
                <a:solidFill>
                  <a:srgbClr val="4FE0D0"/>
                </a:solidFill>
              </a:defRPr>
            </a:pPr>
            <a:r>
              <a:rPr sz="1425" b="1">
                <a:solidFill>
                  <a:srgbClr val="4FE0D0"/>
                </a:solidFill>
              </a:rPr>
              <a:t>前端只展示公开摘要和结构化输入输出，不展示隐藏推理</a:t>
            </a:r>
            <a:endParaRPr sz="1425" b="1">
              <a:solidFill>
                <a:srgbClr val="4FE0D0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5" name="矩形 34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11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搭建路线：按风险顺序增加平台能力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04850" y="11430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59A7FF"/>
                </a:solidFill>
              </a:defRPr>
            </a:defPPr>
          </a:lstStyle>
          <a:p>
            <a:pPr algn="ctr">
              <a:defRPr sz="1200" b="1">
                <a:solidFill>
                  <a:srgbClr val="59A7FF"/>
                </a:solidFill>
              </a:defRPr>
            </a:pPr>
            <a:r>
              <a:rPr sz="1200" b="1">
                <a:solidFill>
                  <a:srgbClr val="59A7FF"/>
                </a:solidFill>
              </a:rPr>
              <a:t>M1</a:t>
            </a:r>
            <a:endParaRPr sz="1200" b="1">
              <a:solidFill>
                <a:srgbClr val="59A7FF"/>
              </a:solidFill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990600" y="1524000"/>
            <a:ext cx="0" cy="476250"/>
          </a:xfrm>
          <a:prstGeom prst="line">
            <a:avLst/>
          </a:prstGeom>
          <a:noFill/>
          <a:ln w="38100">
            <a:solidFill>
              <a:srgbClr val="59A7FF"/>
            </a:solidFill>
            <a:prstDash val="solid"/>
          </a:ln>
        </p:spPr>
      </p:sp>
      <p:sp>
        <p:nvSpPr>
          <p:cNvPr id="6" name="椭圆 5"/>
          <p:cNvSpPr>
            <a:spLocks noGrp="1"/>
          </p:cNvSpPr>
          <p:nvPr/>
        </p:nvSpPr>
        <p:spPr>
          <a:xfrm>
            <a:off x="895350" y="1409700"/>
            <a:ext cx="209550" cy="209550"/>
          </a:xfrm>
          <a:prstGeom prst="ellipse">
            <a:avLst/>
          </a:prstGeom>
          <a:solidFill>
            <a:srgbClr val="59A7FF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428750" y="1047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59A7FF"/>
                </a:solidFill>
              </a:defRPr>
            </a:defPPr>
          </a:lstStyle>
          <a:p>
            <a:pPr algn="l">
              <a:defRPr sz="1650" b="1">
                <a:solidFill>
                  <a:srgbClr val="59A7FF"/>
                </a:solidFill>
              </a:defRPr>
            </a:pPr>
            <a:r>
              <a:rPr sz="1650" b="1">
                <a:solidFill>
                  <a:srgbClr val="59A7FF"/>
                </a:solidFill>
              </a:rPr>
              <a:t>可调用</a:t>
            </a:r>
            <a:endParaRPr sz="1650" b="1">
              <a:solidFill>
                <a:srgbClr val="59A7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381375" y="1057275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F3F7FC"/>
                </a:solidFill>
              </a:defRPr>
            </a:defPPr>
          </a:lstStyle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一个模型 + 一个白名单工具 + 结构化结果</a:t>
            </a:r>
            <a:endParaRPr sz="1425" b="0">
              <a:solidFill>
                <a:srgbClr val="F3F7FC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428750" y="1752600"/>
            <a:ext cx="9477375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04850" y="2095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4FE0D0"/>
                </a:solidFill>
              </a:defRPr>
            </a:defPPr>
          </a:lstStyle>
          <a:p>
            <a:pPr algn="ctr">
              <a:defRPr sz="1200" b="1">
                <a:solidFill>
                  <a:srgbClr val="4FE0D0"/>
                </a:solidFill>
              </a:defRPr>
            </a:pPr>
            <a:r>
              <a:rPr sz="1200" b="1">
                <a:solidFill>
                  <a:srgbClr val="4FE0D0"/>
                </a:solidFill>
              </a:rPr>
              <a:t>M2</a:t>
            </a:r>
            <a:endParaRPr sz="1200" b="1">
              <a:solidFill>
                <a:srgbClr val="4FE0D0"/>
              </a:solidFill>
            </a:endParaRPr>
          </a:p>
        </p:txBody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990600" y="2476500"/>
            <a:ext cx="0" cy="476250"/>
          </a:xfrm>
          <a:prstGeom prst="line">
            <a:avLst/>
          </a:prstGeom>
          <a:noFill/>
          <a:ln w="38100">
            <a:solidFill>
              <a:srgbClr val="4FE0D0"/>
            </a:solidFill>
            <a:prstDash val="solid"/>
          </a:ln>
        </p:spPr>
      </p:sp>
      <p:sp>
        <p:nvSpPr>
          <p:cNvPr id="12" name="椭圆 11"/>
          <p:cNvSpPr>
            <a:spLocks noGrp="1"/>
          </p:cNvSpPr>
          <p:nvPr/>
        </p:nvSpPr>
        <p:spPr>
          <a:xfrm>
            <a:off x="895350" y="2362200"/>
            <a:ext cx="209550" cy="209550"/>
          </a:xfrm>
          <a:prstGeom prst="ellipse">
            <a:avLst/>
          </a:prstGeom>
          <a:solidFill>
            <a:srgbClr val="4FE0D0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428750" y="20002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4FE0D0"/>
                </a:solidFill>
              </a:defRPr>
            </a:defPPr>
          </a:lstStyle>
          <a:p>
            <a:pPr algn="l">
              <a:defRPr sz="1650" b="1">
                <a:solidFill>
                  <a:srgbClr val="4FE0D0"/>
                </a:solidFill>
              </a:defRPr>
            </a:pPr>
            <a:r>
              <a:rPr sz="1650" b="1">
                <a:solidFill>
                  <a:srgbClr val="4FE0D0"/>
                </a:solidFill>
              </a:rPr>
              <a:t>可闭环</a:t>
            </a:r>
            <a:endParaRPr sz="1650" b="1">
              <a:solidFill>
                <a:srgbClr val="4FE0D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381375" y="2009775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F3F7FC"/>
                </a:solidFill>
              </a:defRPr>
            </a:defPPr>
          </a:lstStyle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决策、执行、观察、再次决策</a:t>
            </a:r>
            <a:endParaRPr sz="1425" b="0">
              <a:solidFill>
                <a:srgbClr val="F3F7FC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1428750" y="2705100"/>
            <a:ext cx="9477375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04850" y="30480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F6C85F"/>
                </a:solidFill>
              </a:defRPr>
            </a:defPPr>
          </a:lstStyle>
          <a:p>
            <a:pPr algn="ctr">
              <a:defRPr sz="1200" b="1">
                <a:solidFill>
                  <a:srgbClr val="F6C85F"/>
                </a:solidFill>
              </a:defRPr>
            </a:pPr>
            <a:r>
              <a:rPr sz="1200" b="1">
                <a:solidFill>
                  <a:srgbClr val="F6C85F"/>
                </a:solidFill>
              </a:rPr>
              <a:t>M3</a:t>
            </a:r>
            <a:endParaRPr sz="1200" b="1">
              <a:solidFill>
                <a:srgbClr val="F6C85F"/>
              </a:solidFill>
            </a:endParaRPr>
          </a:p>
        </p:txBody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990600" y="3429000"/>
            <a:ext cx="0" cy="476250"/>
          </a:xfrm>
          <a:prstGeom prst="line">
            <a:avLst/>
          </a:prstGeom>
          <a:noFill/>
          <a:ln w="38100">
            <a:solidFill>
              <a:srgbClr val="F6C85F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95350" y="3314700"/>
            <a:ext cx="209550" cy="209550"/>
          </a:xfrm>
          <a:prstGeom prst="ellipse">
            <a:avLst/>
          </a:prstGeom>
          <a:solidFill>
            <a:srgbClr val="F6C85F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428750" y="2952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F6C85F"/>
                </a:solidFill>
              </a:defRPr>
            </a:defPPr>
          </a:lstStyle>
          <a:p>
            <a:pPr algn="l">
              <a:defRPr sz="1650" b="1">
                <a:solidFill>
                  <a:srgbClr val="F6C85F"/>
                </a:solidFill>
              </a:defRPr>
            </a:pPr>
            <a:r>
              <a:rPr sz="1650" b="1">
                <a:solidFill>
                  <a:srgbClr val="F6C85F"/>
                </a:solidFill>
              </a:rPr>
              <a:t>可信</a:t>
            </a:r>
            <a:endParaRPr sz="1650" b="1">
              <a:solidFill>
                <a:srgbClr val="F6C85F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3381375" y="2962275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F3F7FC"/>
                </a:solidFill>
              </a:defRPr>
            </a:defPPr>
          </a:lstStyle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程序验证、重试边界、安全表达式</a:t>
            </a:r>
            <a:endParaRPr sz="1425" b="0">
              <a:solidFill>
                <a:srgbClr val="F3F7FC"/>
              </a:solidFill>
            </a:endParaRPr>
          </a:p>
        </p:txBody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1428750" y="3657600"/>
            <a:ext cx="9477375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04850" y="40005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FF7A72"/>
                </a:solidFill>
              </a:defRPr>
            </a:defPPr>
          </a:lstStyle>
          <a:p>
            <a:pPr algn="ctr">
              <a:defRPr sz="1200" b="1">
                <a:solidFill>
                  <a:srgbClr val="FF7A72"/>
                </a:solidFill>
              </a:defRPr>
            </a:pPr>
            <a:r>
              <a:rPr sz="1200" b="1">
                <a:solidFill>
                  <a:srgbClr val="FF7A72"/>
                </a:solidFill>
              </a:rPr>
              <a:t>M4</a:t>
            </a:r>
            <a:endParaRPr sz="1200" b="1">
              <a:solidFill>
                <a:srgbClr val="FF7A72"/>
              </a:solidFill>
            </a:endParaRPr>
          </a:p>
        </p:txBody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90600" y="4381500"/>
            <a:ext cx="0" cy="476250"/>
          </a:xfrm>
          <a:prstGeom prst="line">
            <a:avLst/>
          </a:prstGeom>
          <a:noFill/>
          <a:ln w="38100">
            <a:solidFill>
              <a:srgbClr val="FF7A72"/>
            </a:solidFill>
            <a:prstDash val="solid"/>
          </a:ln>
        </p:spPr>
      </p:sp>
      <p:sp>
        <p:nvSpPr>
          <p:cNvPr id="24" name="椭圆 23"/>
          <p:cNvSpPr>
            <a:spLocks noGrp="1"/>
          </p:cNvSpPr>
          <p:nvPr/>
        </p:nvSpPr>
        <p:spPr>
          <a:xfrm>
            <a:off x="895350" y="4267200"/>
            <a:ext cx="209550" cy="209550"/>
          </a:xfrm>
          <a:prstGeom prst="ellipse">
            <a:avLst/>
          </a:prstGeom>
          <a:solidFill>
            <a:srgbClr val="FF7A72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1428750" y="39052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FF7A72"/>
                </a:solidFill>
              </a:defRPr>
            </a:defPPr>
          </a:lstStyle>
          <a:p>
            <a:pPr algn="l">
              <a:defRPr sz="1650" b="1">
                <a:solidFill>
                  <a:srgbClr val="FF7A72"/>
                </a:solidFill>
              </a:defRPr>
            </a:pPr>
            <a:r>
              <a:rPr sz="1650" b="1">
                <a:solidFill>
                  <a:srgbClr val="FF7A72"/>
                </a:solidFill>
              </a:rPr>
              <a:t>可恢复</a:t>
            </a:r>
            <a:endParaRPr sz="1650" b="1">
              <a:solidFill>
                <a:srgbClr val="FF7A72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381375" y="3914775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F3F7FC"/>
                </a:solidFill>
              </a:defRPr>
            </a:defPPr>
          </a:lstStyle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任务状态、事件序号、SSE、人工中断</a:t>
            </a:r>
            <a:endParaRPr sz="1425" b="0">
              <a:solidFill>
                <a:srgbClr val="F3F7FC"/>
              </a:solidFill>
            </a:endParaRPr>
          </a:p>
        </p:txBody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428750" y="4610100"/>
            <a:ext cx="9477375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49530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ctr">
              <a:defRPr sz="1200" b="1">
                <a:solidFill>
                  <a:srgbClr val="67D391"/>
                </a:solidFill>
              </a:defRPr>
            </a:defPPr>
          </a:lstStyle>
          <a:p>
            <a:pPr algn="ctr">
              <a:defRPr sz="1200" b="1">
                <a:solidFill>
                  <a:srgbClr val="67D391"/>
                </a:solidFill>
              </a:defRPr>
            </a:pPr>
            <a:r>
              <a:rPr sz="1200" b="1">
                <a:solidFill>
                  <a:srgbClr val="67D391"/>
                </a:solidFill>
              </a:rPr>
              <a:t>M5</a:t>
            </a:r>
            <a:endParaRPr sz="1200" b="1">
              <a:solidFill>
                <a:srgbClr val="67D391"/>
              </a:solidFill>
            </a:endParaRPr>
          </a:p>
        </p:txBody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990600" y="5334000"/>
            <a:ext cx="0" cy="0"/>
          </a:xfrm>
          <a:prstGeom prst="line">
            <a:avLst/>
          </a:prstGeom>
          <a:noFill/>
          <a:ln w="38100">
            <a:solidFill>
              <a:srgbClr val="67D391"/>
            </a:solidFill>
            <a:prstDash val="solid"/>
          </a:ln>
        </p:spPr>
      </p:sp>
      <p:sp>
        <p:nvSpPr>
          <p:cNvPr id="30" name="椭圆 29"/>
          <p:cNvSpPr>
            <a:spLocks noGrp="1"/>
          </p:cNvSpPr>
          <p:nvPr/>
        </p:nvSpPr>
        <p:spPr>
          <a:xfrm>
            <a:off x="895350" y="5219700"/>
            <a:ext cx="209550" cy="209550"/>
          </a:xfrm>
          <a:prstGeom prst="ellipse">
            <a:avLst/>
          </a:prstGeom>
          <a:solidFill>
            <a:srgbClr val="67D391"/>
          </a:solidFill>
          <a:ln w="28575">
            <a:solidFill>
              <a:srgbClr val="08111F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1428750" y="48577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67D391"/>
                </a:solidFill>
              </a:defRPr>
            </a:defPPr>
          </a:lstStyle>
          <a:p>
            <a:pPr algn="l">
              <a:defRPr sz="1650" b="1">
                <a:solidFill>
                  <a:srgbClr val="67D391"/>
                </a:solidFill>
              </a:defRPr>
            </a:pPr>
            <a:r>
              <a:rPr sz="1650" b="1">
                <a:solidFill>
                  <a:srgbClr val="67D391"/>
                </a:solidFill>
              </a:rPr>
              <a:t>可协作</a:t>
            </a:r>
            <a:endParaRPr sz="1650" b="1">
              <a:solidFill>
                <a:srgbClr val="67D391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381375" y="4867275"/>
            <a:ext cx="7524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425" b="0">
                <a:solidFill>
                  <a:srgbClr val="F3F7FC"/>
                </a:solidFill>
              </a:defRPr>
            </a:defPPr>
          </a:lstStyle>
          <a:p>
            <a:pPr algn="l">
              <a:defRPr sz="1425" b="0">
                <a:solidFill>
                  <a:srgbClr val="F3F7FC"/>
                </a:solidFill>
              </a:defRPr>
            </a:pPr>
            <a:r>
              <a:rPr sz="1425" b="0">
                <a:solidFill>
                  <a:srgbClr val="F3F7FC"/>
                </a:solidFill>
              </a:rPr>
              <a:t>职责隔离、handoff、目标账本、报告汇总</a:t>
            </a:r>
            <a:endParaRPr sz="1425" b="0">
              <a:solidFill>
                <a:srgbClr val="F3F7FC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428750" y="6019800"/>
            <a:ext cx="933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500" b="1">
                <a:solidFill>
                  <a:srgbClr val="4FE0D0"/>
                </a:solidFill>
              </a:defRPr>
            </a:defPPr>
          </a:lstStyle>
          <a:p>
            <a:pPr algn="l">
              <a:defRPr sz="1500" b="1">
                <a:solidFill>
                  <a:srgbClr val="4FE0D0"/>
                </a:solidFill>
              </a:defRPr>
            </a:pPr>
            <a:r>
              <a:rPr sz="1500" b="1">
                <a:solidFill>
                  <a:srgbClr val="4FE0D0"/>
                </a:solidFill>
              </a:rPr>
              <a:t>每个里程碑都应同时增加：状态字段、事件类型、失败用例和端到端测试</a:t>
            </a:r>
            <a:endParaRPr sz="1500" b="1">
              <a:solidFill>
                <a:srgbClr val="4FE0D0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Agent 平台搭建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1" name="矩形 20"/>
          <p:cNvSpPr>
            <a:spLocks noGrp="1"/>
          </p:cNvSpPr>
          <p:nvPr/>
        </p:nvSpPr>
        <p:spPr>
          <a:xfrm>
            <a:off x="514350" y="3238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975" b="1">
                <a:solidFill>
                  <a:srgbClr val="4FE0D0"/>
                </a:solidFill>
              </a:defRPr>
            </a:defPPr>
          </a:lstStyle>
          <a:p>
            <a:pPr algn="l">
              <a:defRPr sz="975" b="1">
                <a:solidFill>
                  <a:srgbClr val="4FE0D0"/>
                </a:solidFill>
              </a:defRPr>
            </a:pPr>
            <a:r>
              <a:rPr sz="975" b="1">
                <a:solidFill>
                  <a:srgbClr val="4FE0D0"/>
                </a:solidFill>
              </a:rPr>
              <a:t>12</a:t>
            </a:r>
            <a:endParaRPr sz="975" b="1">
              <a:solidFill>
                <a:srgbClr val="4FE0D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047750" y="266700"/>
            <a:ext cx="9906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2250" b="1">
                <a:solidFill>
                  <a:srgbClr val="F3F7FC"/>
                </a:solidFill>
              </a:defRPr>
            </a:defPPr>
          </a:lstStyle>
          <a:p>
            <a:pPr algn="l">
              <a:defRPr sz="2250" b="1">
                <a:solidFill>
                  <a:srgbClr val="F3F7FC"/>
                </a:solidFill>
              </a:defRPr>
            </a:pPr>
            <a:r>
              <a:rPr sz="2250" b="1">
                <a:solidFill>
                  <a:srgbClr val="F3F7FC"/>
                </a:solidFill>
              </a:rPr>
              <a:t>关键经验</a:t>
            </a:r>
            <a:endParaRPr sz="2250" b="1">
              <a:solidFill>
                <a:srgbClr val="F3F7FC"/>
              </a:solidFill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514350" y="838200"/>
            <a:ext cx="111633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82650" y="21907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59A7FF"/>
                </a:solidFill>
              </a:defRPr>
            </a:defPPr>
          </a:lstStyle>
          <a:p>
            <a:pPr algn="l">
              <a:defRPr sz="1650" b="1">
                <a:solidFill>
                  <a:srgbClr val="59A7FF"/>
                </a:solidFill>
              </a:defRPr>
            </a:pPr>
            <a:r>
              <a:rPr sz="1650" b="1">
                <a:solidFill>
                  <a:srgbClr val="59A7FF"/>
                </a:solidFill>
              </a:rPr>
              <a:t>Agent 的核心是状态机</a:t>
            </a:r>
            <a:endParaRPr sz="1650" b="1">
              <a:solidFill>
                <a:srgbClr val="59A7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82650" y="26860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提示词只决定局部行为，平台决定全局边界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6" name="直接连接符 5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82650" y="3448050"/>
            <a:ext cx="43815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7" name="矩形 6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311900" y="21907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FF7A72"/>
                </a:solidFill>
              </a:defRPr>
            </a:defPPr>
          </a:lstStyle>
          <a:p>
            <a:pPr algn="l">
              <a:defRPr sz="1650" b="1">
                <a:solidFill>
                  <a:srgbClr val="FF7A72"/>
                </a:solidFill>
              </a:defRPr>
            </a:pPr>
            <a:r>
              <a:rPr sz="1650" b="1">
                <a:solidFill>
                  <a:srgbClr val="FF7A72"/>
                </a:solidFill>
              </a:rPr>
              <a:t>可信来自双重证据</a:t>
            </a:r>
            <a:endParaRPr sz="1650" b="1">
              <a:solidFill>
                <a:srgbClr val="FF7A72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311900" y="2686050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模型审阅负责语义，程序验证负责硬约束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9" name="直接连接符 8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311900" y="3448050"/>
            <a:ext cx="43815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82650" y="39338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4FE0D0"/>
                </a:solidFill>
              </a:defRPr>
            </a:defPPr>
          </a:lstStyle>
          <a:p>
            <a:pPr algn="l">
              <a:defRPr sz="1650" b="1">
                <a:solidFill>
                  <a:srgbClr val="4FE0D0"/>
                </a:solidFill>
              </a:defRPr>
            </a:pPr>
            <a:r>
              <a:rPr sz="1650" b="1">
                <a:solidFill>
                  <a:srgbClr val="4FE0D0"/>
                </a:solidFill>
              </a:rPr>
              <a:t>多 Agent 先拆责任</a:t>
            </a:r>
            <a:endParaRPr sz="1650" b="1">
              <a:solidFill>
                <a:srgbClr val="4FE0D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882650" y="4429125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sz="1350" b="0">
                <a:solidFill>
                  <a:srgbClr val="F3F7FC"/>
                </a:solidFill>
              </a:rPr>
              <a:t>共享账本和 handoff 比“多模型”更重要</a:t>
            </a:r>
            <a:endParaRPr sz="1350" b="0">
              <a:solidFill>
                <a:srgbClr val="F3F7FC"/>
              </a:solidFill>
            </a:endParaRPr>
          </a:p>
        </p:txBody>
      </p:sp>
      <p:sp>
        <p:nvSpPr>
          <p:cNvPr id="12" name="直接连接符 11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882650" y="5191125"/>
            <a:ext cx="43815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311900" y="3933825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650" b="1">
                <a:solidFill>
                  <a:srgbClr val="F6C85F"/>
                </a:solidFill>
              </a:defRPr>
            </a:defPPr>
          </a:lstStyle>
          <a:p>
            <a:pPr algn="l">
              <a:buClrTx/>
              <a:buSzTx/>
              <a:buFontTx/>
              <a:defRPr sz="1650" b="1">
                <a:solidFill>
                  <a:srgbClr val="F6C85F"/>
                </a:solidFill>
              </a:defRPr>
            </a:pPr>
            <a:r>
              <a:rPr>
                <a:sym typeface="+mn-ea"/>
              </a:rPr>
              <a:t>可观察性应该从第一版开始设计</a:t>
            </a:r>
          </a:p>
          <a:p>
            <a:pPr algn="l">
              <a:defRPr sz="1650" b="1">
                <a:solidFill>
                  <a:srgbClr val="F6C85F"/>
                </a:solidFill>
              </a:defRPr>
            </a:pPr>
            <a:endParaRPr sz="1650" b="1">
              <a:solidFill>
                <a:srgbClr val="F6C85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6311900" y="4429125"/>
            <a:ext cx="438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1350" b="0">
                <a:solidFill>
                  <a:srgbClr val="F3F7FC"/>
                </a:solidFill>
              </a:defRPr>
            </a:defPPr>
          </a:lstStyle>
          <a:p>
            <a:pPr algn="l">
              <a:defRPr sz="1350" b="0">
                <a:solidFill>
                  <a:srgbClr val="F3F7FC"/>
                </a:solidFill>
              </a:defRPr>
            </a:pPr>
            <a:r>
              <a:rPr lang="zh-CN" altLang="en-US" sz="1350" b="0">
                <a:solidFill>
                  <a:srgbClr val="F3F7FC"/>
                </a:solidFill>
              </a:rPr>
              <a:t>开发 </a:t>
            </a:r>
            <a:r>
              <a:rPr lang="en-US" altLang="zh-CN" sz="1350" b="0">
                <a:solidFill>
                  <a:srgbClr val="F3F7FC"/>
                </a:solidFill>
              </a:rPr>
              <a:t>Agent </a:t>
            </a:r>
            <a:r>
              <a:rPr lang="zh-CN" altLang="en-US" sz="1350" b="0">
                <a:solidFill>
                  <a:srgbClr val="F3F7FC"/>
                </a:solidFill>
              </a:rPr>
              <a:t>的第一版时，就要把“系统正在做什么”记录清楚，而不是等功能完成后再补日志和监控。</a:t>
            </a:r>
            <a:endParaRPr lang="zh-CN" altLang="en-US" sz="1350" b="0">
              <a:solidFill>
                <a:srgbClr val="F3F7FC"/>
              </a:solidFill>
            </a:endParaRPr>
          </a:p>
        </p:txBody>
      </p:sp>
      <p:sp>
        <p:nvSpPr>
          <p:cNvPr id="15" name="直接连接符 14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6311900" y="5191125"/>
            <a:ext cx="4381500" cy="0"/>
          </a:xfrm>
          <a:prstGeom prst="line">
            <a:avLst/>
          </a:prstGeom>
          <a:noFill/>
          <a:ln w="9525">
            <a:solidFill>
              <a:srgbClr val="29415E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14350" y="651510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>
            <a:defPPr algn="l">
              <a:defRPr sz="825" b="0">
                <a:solidFill>
                  <a:srgbClr val="9EB0C7"/>
                </a:solidFill>
              </a:defRPr>
            </a:defPPr>
          </a:lstStyle>
          <a:p>
            <a:pPr algn="l">
              <a:defRPr sz="825" b="0">
                <a:solidFill>
                  <a:srgbClr val="9EB0C7"/>
                </a:solidFill>
              </a:defRPr>
            </a:pPr>
            <a:r>
              <a:rPr sz="825" b="0">
                <a:solidFill>
                  <a:srgbClr val="9EB0C7"/>
                </a:solidFill>
              </a:rPr>
              <a:t>SciDemo · 讨论与实践</a:t>
            </a:r>
            <a:endParaRPr sz="825" b="0">
              <a:solidFill>
                <a:srgbClr val="9EB0C7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54,&quot;left&quot;:570,&quot;top&quot;:361.5,&quot;width&quot;:307.55}"/>
</p:tagLst>
</file>

<file path=ppt/tags/tag2.xml><?xml version="1.0" encoding="utf-8"?>
<p:tagLst xmlns:p="http://schemas.openxmlformats.org/presentationml/2006/main">
  <p:tag name="KSO_WM_DIAGRAM_VIRTUALLY_FRAME" val="{&quot;height&quot;:54,&quot;left&quot;:570,&quot;top&quot;:361.5,&quot;width&quot;:307.55}"/>
</p:tagLst>
</file>

<file path=ppt/tags/tag3.xml><?xml version="1.0" encoding="utf-8"?>
<p:tagLst xmlns:p="http://schemas.openxmlformats.org/presentationml/2006/main">
  <p:tag name="KSO_WM_DIAGRAM_VIRTUALLY_FRAME" val="{&quot;height&quot;:54,&quot;left&quot;:570,&quot;top&quot;:361.5,&quot;width&quot;:307.55}"/>
</p:tagLst>
</file>

<file path=ppt/tags/tag4.xml><?xml version="1.0" encoding="utf-8"?>
<p:tagLst xmlns:p="http://schemas.openxmlformats.org/presentationml/2006/main">
  <p:tag name="KSO_WM_DIAGRAM_VIRTUALLY_FRAME" val="{&quot;height&quot;:54,&quot;left&quot;:570,&quot;top&quot;:361.5,&quot;width&quot;:307.55}"/>
</p:tagLst>
</file>

<file path=ppt/tags/tag5.xml><?xml version="1.0" encoding="utf-8"?>
<p:tagLst xmlns:p="http://schemas.openxmlformats.org/presentationml/2006/main">
  <p:tag name="KSO_WM_DIAGRAM_VIRTUALLY_FRAME" val="{&quot;height&quot;:54,&quot;left&quot;:570,&quot;top&quot;:361.5,&quot;width&quot;:307.55}"/>
</p:tagLst>
</file>

<file path=ppt/tags/tag6.xml><?xml version="1.0" encoding="utf-8"?>
<p:tagLst xmlns:p="http://schemas.openxmlformats.org/presentationml/2006/main">
  <p:tag name="KSO_WM_DIAGRAM_VIRTUALLY_FRAME" val="{&quot;height&quot;:54,&quot;left&quot;:570,&quot;top&quot;:361.5,&quot;width&quot;:307.55}"/>
</p:tagLst>
</file>

<file path=ppt/tags/tag7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8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9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0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1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2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3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4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5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6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7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8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19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20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21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22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23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24.xml><?xml version="1.0" encoding="utf-8"?>
<p:tagLst xmlns:p="http://schemas.openxmlformats.org/presentationml/2006/main">
  <p:tag name="KSO_WM_DIAGRAM_VIRTUALLY_FRAME" val="{&quot;height&quot;:78,&quot;left&quot;:82.5,&quot;top&quot;:135,&quot;width&quot;:772.5}"/>
</p:tagLst>
</file>

<file path=ppt/tags/tag25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26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27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28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29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30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31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32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33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34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35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ags/tag36.xml><?xml version="1.0" encoding="utf-8"?>
<p:tagLst xmlns:p="http://schemas.openxmlformats.org/presentationml/2006/main">
  <p:tag name="KSO_WM_DIAGRAM_VIRTUALLY_FRAME" val="{&quot;height&quot;:309.75,&quot;left&quot;:67.5,&quot;top&quot;:99,&quot;width&quot;:782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2399</Words>
  <Application>WPS 演示</Application>
  <PresentationFormat>Converted Presentation</PresentationFormat>
  <Paragraphs>396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Aptos</vt:lpstr>
      <vt:lpstr>Segoe UI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甄禛</cp:lastModifiedBy>
  <cp:revision>10</cp:revision>
  <dcterms:created xsi:type="dcterms:W3CDTF">2026-10-09T06:32:58Z</dcterms:created>
  <dcterms:modified xsi:type="dcterms:W3CDTF">2026-10-09T06:48:58Z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415B8FF799DA4323BA1560029A8292DA_12</vt:lpwstr>
  </property>
  <property fmtid="{D5CDD505-2E9C-101B-9397-08002B2CF9AE}" pid="3" name="KSOProductBuildVer">
    <vt:lpwstr>2052-12.1.0.28505</vt:lpwstr>
  </property>
</Properties>
</file>